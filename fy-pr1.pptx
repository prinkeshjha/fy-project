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D5E3"/>
    <a:srgbClr val="04111A"/>
    <a:srgbClr val="040437"/>
    <a:srgbClr val="41BAFF"/>
    <a:srgbClr val="FED3CC"/>
    <a:srgbClr val="F22859"/>
    <a:srgbClr val="96C3EF"/>
    <a:srgbClr val="7362AD"/>
    <a:srgbClr val="5171C4"/>
    <a:srgbClr val="FED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8945F9-9C19-4CAE-A74D-09910C4D1E8E}" v="1657" dt="2025-12-21T15:00:40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0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1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10:49:29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10:49:56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10:49:29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10:49:56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12:09:32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10:49:56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10:49:56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7577-1D23-A9E6-7F45-59888F293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8C8D5-9490-F166-9177-9A3368052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A8C10-336E-E3F6-0188-9E8E1B8E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7069-2FFF-4F16-B0AF-72B7D024C914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A041-7572-58F6-439A-6A927FE22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4F410-B133-9C91-207F-E94CBA35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F98-D92D-4D0B-A63B-8F8255169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189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2097D-2B46-E40A-D729-9009EC05E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577B2-B6BD-8D9D-72AD-76D52C65D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30A61-F2BA-95AD-636B-EC22556CC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7069-2FFF-4F16-B0AF-72B7D024C914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9EB07-3AD3-2A3A-3F7E-171D960F6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BA898-EA0A-E33C-CAB6-933393D9C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F98-D92D-4D0B-A63B-8F8255169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822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5E73F-96DA-F51B-9053-80A80354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92426-4A8E-7A95-7AFF-6D6E70D83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8B997-21C8-D0BE-9B0C-F4B73C192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7069-2FFF-4F16-B0AF-72B7D024C914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41B1F-754B-C053-4EF4-D7C205E86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41D56-0C2C-CDDF-2BCD-0AF638C8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F98-D92D-4D0B-A63B-8F8255169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036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A8046-889E-5FDE-2410-497D0111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417E8-EB90-D829-8D22-2984F1308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756C2-F155-0F73-1AC9-557E2A586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6CD08-34C2-C884-5893-BB640720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7069-2FFF-4F16-B0AF-72B7D024C914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73C95-EDAB-AD79-23B1-C9C7707E1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564E3-428B-3A17-5F59-46CDB146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F98-D92D-4D0B-A63B-8F8255169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590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B1276-3D3D-9CD2-D3DA-86EEEB26D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F465A-91C5-DE83-2466-9A0491EAF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F1038-0FDA-1B07-FA4C-D43BFDCA3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96B9DC-D14B-471D-FE4C-6DB2BF288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AA6D60-BFC6-B05B-D950-C97DD28EF2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7722D0-8BEF-D52A-BE8C-BC98728C4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7069-2FFF-4F16-B0AF-72B7D024C914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AEC428-7108-EC74-B426-3FAA2F025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3F744-9882-36A7-C661-BD990776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F98-D92D-4D0B-A63B-8F8255169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254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649C7-160B-81FF-D08F-28EF4E53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86F2A2-D060-9CF2-9B50-2A1E64AC0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7069-2FFF-4F16-B0AF-72B7D024C914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FD50AF-9CC8-CC51-6135-61EE24035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A2480-9FF8-F164-375B-848E14B3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F98-D92D-4D0B-A63B-8F8255169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002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23827E-5A79-43E1-1D46-5FC6DEF9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7069-2FFF-4F16-B0AF-72B7D024C914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A8020B-4B81-9012-1B30-6431EE05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CED51-150A-2765-13D0-34C0BD299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F98-D92D-4D0B-A63B-8F8255169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17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69115-77AA-4D17-8F9C-76B7374C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F6A73-2955-AFD1-B513-6E6E1D860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6525B-0552-E00F-B82E-9DE7594D6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FC140-9029-924D-149E-B5E7EE575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7069-2FFF-4F16-B0AF-72B7D024C914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6ADC5-063E-A956-7E36-FC1E06CE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03157-4857-B3E5-01DA-0C15D7433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F98-D92D-4D0B-A63B-8F8255169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966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57C47-AA0F-2727-B468-CC6D6BAA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EE40E-CEA8-F8B1-F5F0-B456C4A426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71C67-1EF0-3484-1916-109B5925B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D73EB-846D-D3EB-7CBA-D5B62B96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7069-2FFF-4F16-B0AF-72B7D024C914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7D3E4-FD3B-49F3-1D13-04B3C1C9F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8A0BD-7CD6-05B5-719D-3C3D0BB2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F98-D92D-4D0B-A63B-8F8255169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9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D7C4D-681C-4E23-8A93-52D8CA96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9B482-419D-B1DC-8CA9-24FE02E72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C4590-C92F-ED3E-C2A0-FC646398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7069-2FFF-4F16-B0AF-72B7D024C914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90AF7-9D7C-877C-7E7D-946DA7642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B2D28-798C-0A12-4095-020EB445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F98-D92D-4D0B-A63B-8F8255169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454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BFEF1-1B9C-0335-96A9-5E5E13496D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45C00-CD0D-2A29-2A1A-676DE544F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A3E7A-724B-530F-4BF5-D353E6569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7069-2FFF-4F16-B0AF-72B7D024C914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CB894-70A1-4F6F-73EE-96E2B8737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57AA8-2A20-74AA-FE55-FEBD83953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F98-D92D-4D0B-A63B-8F8255169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74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A47907-4CFC-3216-7F6E-FDF840EDF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25DC9-BB6D-95E8-6B42-99C1EDF82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28FBF-A62A-F168-E9D4-CFA9BA98C9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D7069-2FFF-4F16-B0AF-72B7D024C914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6CDD1-6A65-EF53-DEB0-0D43CCEF97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EEE11-5CE7-950E-CB51-F66CDA10E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83F98-D92D-4D0B-A63B-8F8255169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94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customXml" Target="../ink/ink1.xml"/><Relationship Id="rId5" Type="http://schemas.microsoft.com/office/2007/relationships/hdphoto" Target="../media/hdphoto1.wdp"/><Relationship Id="rId4" Type="http://schemas.openxmlformats.org/officeDocument/2006/relationships/image" Target="../media/image1.png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customXml" Target="../ink/ink3.xml"/><Relationship Id="rId11" Type="http://schemas.openxmlformats.org/officeDocument/2006/relationships/image" Target="../media/image4.png"/><Relationship Id="rId5" Type="http://schemas.microsoft.com/office/2007/relationships/hdphoto" Target="../media/hdphoto1.wdp"/><Relationship Id="rId10" Type="http://schemas.openxmlformats.org/officeDocument/2006/relationships/customXml" Target="../ink/ink5.xml"/><Relationship Id="rId4" Type="http://schemas.openxmlformats.org/officeDocument/2006/relationships/image" Target="../media/image1.pn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customXml" Target="../ink/ink6.xm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2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9.svg"/><Relationship Id="rId5" Type="http://schemas.openxmlformats.org/officeDocument/2006/relationships/image" Target="../media/image10.png"/><Relationship Id="rId15" Type="http://schemas.openxmlformats.org/officeDocument/2006/relationships/image" Target="../media/image18.png"/><Relationship Id="rId10" Type="http://schemas.openxmlformats.org/officeDocument/2006/relationships/image" Target="../media/image8.png"/><Relationship Id="rId19" Type="http://schemas.openxmlformats.org/officeDocument/2006/relationships/image" Target="../media/image22.png"/><Relationship Id="rId4" Type="http://schemas.openxmlformats.org/officeDocument/2006/relationships/image" Target="../media/image7.svg"/><Relationship Id="rId9" Type="http://schemas.openxmlformats.org/officeDocument/2006/relationships/image" Target="../media/image14.png"/><Relationship Id="rId14" Type="http://schemas.openxmlformats.org/officeDocument/2006/relationships/image" Target="../media/image17.png"/><Relationship Id="rId22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9" Type="http://schemas.microsoft.com/office/2007/relationships/hdphoto" Target="../media/hdphoto7.wdp"/><Relationship Id="rId21" Type="http://schemas.openxmlformats.org/officeDocument/2006/relationships/image" Target="../media/image29.png"/><Relationship Id="rId34" Type="http://schemas.openxmlformats.org/officeDocument/2006/relationships/image" Target="../media/image38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microsoft.com/office/2007/relationships/hdphoto" Target="../media/hdphoto3.wdp"/><Relationship Id="rId41" Type="http://schemas.microsoft.com/office/2007/relationships/hdphoto" Target="../media/hdphoto8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37.png"/><Relationship Id="rId37" Type="http://schemas.microsoft.com/office/2007/relationships/hdphoto" Target="../media/hdphoto6.wdp"/><Relationship Id="rId40" Type="http://schemas.openxmlformats.org/officeDocument/2006/relationships/image" Target="../media/image42.png"/><Relationship Id="rId5" Type="http://schemas.openxmlformats.org/officeDocument/2006/relationships/image" Target="../media/image8.png"/><Relationship Id="rId15" Type="http://schemas.openxmlformats.org/officeDocument/2006/relationships/image" Target="../media/image23.svg"/><Relationship Id="rId23" Type="http://schemas.openxmlformats.org/officeDocument/2006/relationships/image" Target="../media/image31.png"/><Relationship Id="rId28" Type="http://schemas.openxmlformats.org/officeDocument/2006/relationships/image" Target="../media/image35.png"/><Relationship Id="rId36" Type="http://schemas.openxmlformats.org/officeDocument/2006/relationships/image" Target="../media/image40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microsoft.com/office/2007/relationships/hdphoto" Target="../media/hdphoto4.wdp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microsoft.com/office/2007/relationships/hdphoto" Target="../media/hdphoto2.wdp"/><Relationship Id="rId30" Type="http://schemas.openxmlformats.org/officeDocument/2006/relationships/image" Target="../media/image36.png"/><Relationship Id="rId35" Type="http://schemas.openxmlformats.org/officeDocument/2006/relationships/image" Target="../media/image39.png"/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5" Type="http://schemas.openxmlformats.org/officeDocument/2006/relationships/image" Target="../media/image33.png"/><Relationship Id="rId33" Type="http://schemas.microsoft.com/office/2007/relationships/hdphoto" Target="../media/hdphoto5.wdp"/><Relationship Id="rId38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6A9AC70-617B-056A-50D1-596B0B68A00F}"/>
              </a:ext>
            </a:extLst>
          </p:cNvPr>
          <p:cNvSpPr/>
          <p:nvPr/>
        </p:nvSpPr>
        <p:spPr>
          <a:xfrm rot="20685852">
            <a:off x="-1036983" y="-595780"/>
            <a:ext cx="6136274" cy="8438844"/>
          </a:xfrm>
          <a:custGeom>
            <a:avLst/>
            <a:gdLst>
              <a:gd name="csX0" fmla="*/ 1843240 w 6136274"/>
              <a:gd name="csY0" fmla="*/ 0 h 8438844"/>
              <a:gd name="csX1" fmla="*/ 4894818 w 6136274"/>
              <a:gd name="csY1" fmla="*/ 831143 h 8438844"/>
              <a:gd name="csX2" fmla="*/ 4883885 w 6136274"/>
              <a:gd name="csY2" fmla="*/ 866503 h 8438844"/>
              <a:gd name="csX3" fmla="*/ 6116279 w 6136274"/>
              <a:gd name="csY3" fmla="*/ 8399463 h 8438844"/>
              <a:gd name="csX4" fmla="*/ 6136274 w 6136274"/>
              <a:gd name="csY4" fmla="*/ 8438844 h 8438844"/>
              <a:gd name="csX5" fmla="*/ 0 w 6136274"/>
              <a:gd name="csY5" fmla="*/ 6767537 h 84388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136274" h="8438844">
                <a:moveTo>
                  <a:pt x="1843240" y="0"/>
                </a:moveTo>
                <a:lnTo>
                  <a:pt x="4894818" y="831143"/>
                </a:lnTo>
                <a:lnTo>
                  <a:pt x="4883885" y="866503"/>
                </a:lnTo>
                <a:cubicBezTo>
                  <a:pt x="3808279" y="4522658"/>
                  <a:pt x="4975851" y="6191609"/>
                  <a:pt x="6116279" y="8399463"/>
                </a:cubicBezTo>
                <a:lnTo>
                  <a:pt x="6136274" y="8438844"/>
                </a:lnTo>
                <a:lnTo>
                  <a:pt x="0" y="6767537"/>
                </a:lnTo>
                <a:close/>
              </a:path>
            </a:pathLst>
          </a:custGeom>
          <a:gradFill flip="none" rotWithShape="1">
            <a:gsLst>
              <a:gs pos="0">
                <a:srgbClr val="121256">
                  <a:shade val="30000"/>
                  <a:satMod val="115000"/>
                </a:srgbClr>
              </a:gs>
              <a:gs pos="50000">
                <a:srgbClr val="121256">
                  <a:shade val="67500"/>
                  <a:satMod val="115000"/>
                </a:srgbClr>
              </a:gs>
              <a:gs pos="100000">
                <a:srgbClr val="121256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B93E8C-6D7D-376E-CA05-7F39FA4C760D}"/>
              </a:ext>
            </a:extLst>
          </p:cNvPr>
          <p:cNvSpPr txBox="1"/>
          <p:nvPr/>
        </p:nvSpPr>
        <p:spPr>
          <a:xfrm>
            <a:off x="4345015" y="791786"/>
            <a:ext cx="74218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rgbClr val="0070C0"/>
                </a:solidFill>
                <a:latin typeface="Arial Rounded MT Bold" panose="020F0704030504030204" pitchFamily="34" charset="0"/>
                <a:ea typeface="3270 Nerd Font Mono" panose="02000509000000000000" pitchFamily="49" charset="0"/>
                <a:cs typeface="3270 Nerd Font Mono" panose="02000509000000000000" pitchFamily="49" charset="0"/>
              </a:rPr>
              <a:t>SECURE AI-POWERED</a:t>
            </a:r>
          </a:p>
          <a:p>
            <a:pPr algn="r"/>
            <a:r>
              <a:rPr lang="en-US" sz="3600" dirty="0">
                <a:solidFill>
                  <a:srgbClr val="0070C0"/>
                </a:solidFill>
                <a:latin typeface="Arial Rounded MT Bold" panose="020F0704030504030204" pitchFamily="34" charset="0"/>
                <a:ea typeface="3270 Nerd Font Mono" panose="02000509000000000000" pitchFamily="49" charset="0"/>
                <a:cs typeface="3270 Nerd Font Mono" panose="02000509000000000000" pitchFamily="49" charset="0"/>
              </a:rPr>
              <a:t>PHISHING WEBSITE DETECTOR</a:t>
            </a:r>
          </a:p>
          <a:p>
            <a:pPr algn="r"/>
            <a:r>
              <a:rPr lang="en-US" sz="2800" dirty="0">
                <a:solidFill>
                  <a:srgbClr val="FF0000"/>
                </a:solidFill>
              </a:rPr>
              <a:t>Real-time Zero-Day Protection</a:t>
            </a:r>
            <a:endParaRPr lang="en-IN" sz="2800" dirty="0">
              <a:solidFill>
                <a:srgbClr val="FF0000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24A49E7-8559-D22F-E4AC-42EFAE16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592" b="90408" l="9932" r="93197">
                        <a14:foregroundMark x1="61905" y1="9592" x2="68163" y2="10000"/>
                        <a14:foregroundMark x1="90204" y1="72041" x2="93333" y2="72245"/>
                        <a14:foregroundMark x1="57415" y1="88980" x2="62585" y2="90408"/>
                        <a14:foregroundMark x1="62585" y1="90408" x2="68027" y2="90408"/>
                        <a14:foregroundMark x1="68027" y1="90408" x2="68980" y2="89592"/>
                        <a14:backgroundMark x1="39592" y1="35714" x2="40816" y2="54694"/>
                        <a14:backgroundMark x1="45578" y1="43673" x2="50204" y2="55918"/>
                        <a14:backgroundMark x1="51293" y1="69796" x2="51293" y2="69796"/>
                        <a14:backgroundMark x1="56871" y1="71020" x2="56871" y2="71020"/>
                        <a14:backgroundMark x1="53469" y1="72245" x2="53469" y2="72245"/>
                        <a14:backgroundMark x1="57823" y1="72041" x2="55102" y2="71224"/>
                        <a14:backgroundMark x1="82177" y1="36531" x2="82177" y2="52857"/>
                        <a14:backgroundMark x1="62721" y1="23061" x2="65306" y2="25510"/>
                        <a14:backgroundMark x1="65306" y1="20816" x2="60952" y2="293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259161" y="822266"/>
            <a:ext cx="9053601" cy="60357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036AEB7-9769-6C77-952E-603F9B64DBAA}"/>
                  </a:ext>
                </a:extLst>
              </p14:cNvPr>
              <p14:cNvContentPartPr/>
              <p14:nvPr/>
            </p14:nvContentPartPr>
            <p14:xfrm>
              <a:off x="4314535" y="23151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036AEB7-9769-6C77-952E-603F9B64DB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08415" y="1703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EA9F920-3CFC-031E-AF5F-FCB4FBC4DEB8}"/>
                  </a:ext>
                </a:extLst>
              </p14:cNvPr>
              <p14:cNvContentPartPr/>
              <p14:nvPr/>
            </p14:nvContentPartPr>
            <p14:xfrm>
              <a:off x="731640" y="8153160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EA9F920-3CFC-031E-AF5F-FCB4FBC4DE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5160" y="814704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9E58E85C-92E6-4F8F-E1AC-864C1AD88088}"/>
              </a:ext>
            </a:extLst>
          </p:cNvPr>
          <p:cNvSpPr txBox="1"/>
          <p:nvPr/>
        </p:nvSpPr>
        <p:spPr>
          <a:xfrm>
            <a:off x="6069957" y="5010912"/>
            <a:ext cx="6096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40437"/>
                </a:solidFill>
                <a:latin typeface="Arial Rounded MT Bold" panose="020F0704030504030204" pitchFamily="34" charset="0"/>
              </a:rPr>
              <a:t>A Multi-Modal Approach using Ensemble Learning and Explainable Intelligence (XAI).</a:t>
            </a:r>
            <a:endParaRPr lang="en-IN" sz="3200" dirty="0">
              <a:solidFill>
                <a:srgbClr val="040437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51" name="Recording 2025-12-21 152306">
            <a:hlinkClick r:id="" action="ppaction://media"/>
            <a:extLst>
              <a:ext uri="{FF2B5EF4-FFF2-40B4-BE49-F238E27FC236}">
                <a16:creationId xmlns:a16="http://schemas.microsoft.com/office/drawing/2014/main" id="{3AF6E80F-7B56-90F4-8766-3351181A225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1098" t="1963" r="1849" b="3027"/>
          <a:stretch>
            <a:fillRect/>
          </a:stretch>
        </p:blipFill>
        <p:spPr>
          <a:xfrm>
            <a:off x="-25576297" y="23151"/>
            <a:ext cx="12515536" cy="68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1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55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51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A5081-0C5F-7FB2-4C46-8044B96AF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F598FC1-4E28-622B-ADEA-C00DEC183CE8}"/>
              </a:ext>
            </a:extLst>
          </p:cNvPr>
          <p:cNvSpPr/>
          <p:nvPr/>
        </p:nvSpPr>
        <p:spPr>
          <a:xfrm rot="20685852">
            <a:off x="-3185969" y="-16003241"/>
            <a:ext cx="25049964" cy="27799872"/>
          </a:xfrm>
          <a:custGeom>
            <a:avLst/>
            <a:gdLst>
              <a:gd name="csX0" fmla="*/ 1843240 w 6136274"/>
              <a:gd name="csY0" fmla="*/ 0 h 8438844"/>
              <a:gd name="csX1" fmla="*/ 4894818 w 6136274"/>
              <a:gd name="csY1" fmla="*/ 831143 h 8438844"/>
              <a:gd name="csX2" fmla="*/ 4883885 w 6136274"/>
              <a:gd name="csY2" fmla="*/ 866503 h 8438844"/>
              <a:gd name="csX3" fmla="*/ 6116279 w 6136274"/>
              <a:gd name="csY3" fmla="*/ 8399463 h 8438844"/>
              <a:gd name="csX4" fmla="*/ 6136274 w 6136274"/>
              <a:gd name="csY4" fmla="*/ 8438844 h 8438844"/>
              <a:gd name="csX5" fmla="*/ 0 w 6136274"/>
              <a:gd name="csY5" fmla="*/ 6767537 h 84388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136274" h="8438844">
                <a:moveTo>
                  <a:pt x="1843240" y="0"/>
                </a:moveTo>
                <a:lnTo>
                  <a:pt x="4894818" y="831143"/>
                </a:lnTo>
                <a:lnTo>
                  <a:pt x="4883885" y="866503"/>
                </a:lnTo>
                <a:cubicBezTo>
                  <a:pt x="3808279" y="4522658"/>
                  <a:pt x="4975851" y="6191609"/>
                  <a:pt x="6116279" y="8399463"/>
                </a:cubicBezTo>
                <a:lnTo>
                  <a:pt x="6136274" y="8438844"/>
                </a:lnTo>
                <a:lnTo>
                  <a:pt x="0" y="6767537"/>
                </a:lnTo>
                <a:close/>
              </a:path>
            </a:pathLst>
          </a:custGeom>
          <a:gradFill flip="none" rotWithShape="1">
            <a:gsLst>
              <a:gs pos="0">
                <a:srgbClr val="121256">
                  <a:shade val="30000"/>
                  <a:satMod val="115000"/>
                </a:srgbClr>
              </a:gs>
              <a:gs pos="50000">
                <a:srgbClr val="121256">
                  <a:shade val="67500"/>
                  <a:satMod val="115000"/>
                </a:srgbClr>
              </a:gs>
              <a:gs pos="100000">
                <a:srgbClr val="121256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A680F0-F0F8-81EB-7701-AEABDE731670}"/>
              </a:ext>
            </a:extLst>
          </p:cNvPr>
          <p:cNvSpPr txBox="1"/>
          <p:nvPr/>
        </p:nvSpPr>
        <p:spPr>
          <a:xfrm>
            <a:off x="18103346" y="370830"/>
            <a:ext cx="74218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rgbClr val="0070C0"/>
                </a:solidFill>
                <a:latin typeface="Arial Rounded MT Bold" panose="020F0704030504030204" pitchFamily="34" charset="0"/>
                <a:ea typeface="3270 Nerd Font Mono" panose="02000509000000000000" pitchFamily="49" charset="0"/>
                <a:cs typeface="3270 Nerd Font Mono" panose="02000509000000000000" pitchFamily="49" charset="0"/>
              </a:rPr>
              <a:t>SECURE AI-POWERED</a:t>
            </a:r>
          </a:p>
          <a:p>
            <a:pPr algn="r"/>
            <a:r>
              <a:rPr lang="en-US" sz="3600" dirty="0">
                <a:solidFill>
                  <a:srgbClr val="0070C0"/>
                </a:solidFill>
                <a:latin typeface="Arial Rounded MT Bold" panose="020F0704030504030204" pitchFamily="34" charset="0"/>
                <a:ea typeface="3270 Nerd Font Mono" panose="02000509000000000000" pitchFamily="49" charset="0"/>
                <a:cs typeface="3270 Nerd Font Mono" panose="02000509000000000000" pitchFamily="49" charset="0"/>
              </a:rPr>
              <a:t>PHISHING WEBSITE DETECTOR</a:t>
            </a:r>
          </a:p>
          <a:p>
            <a:pPr algn="r"/>
            <a:r>
              <a:rPr lang="en-US" sz="2800" dirty="0">
                <a:solidFill>
                  <a:srgbClr val="FF0000"/>
                </a:solidFill>
              </a:rPr>
              <a:t>Real-time Zero-Day Protection</a:t>
            </a:r>
            <a:endParaRPr lang="en-IN" sz="2800" dirty="0">
              <a:solidFill>
                <a:srgbClr val="FF0000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0587BE3-658C-E848-BAD8-867A5FD237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592" b="90408" l="9932" r="93197">
                        <a14:foregroundMark x1="61905" y1="9592" x2="68163" y2="10000"/>
                        <a14:foregroundMark x1="90204" y1="72041" x2="93333" y2="72245"/>
                        <a14:foregroundMark x1="57415" y1="88980" x2="62585" y2="90408"/>
                        <a14:foregroundMark x1="62585" y1="90408" x2="68027" y2="90408"/>
                        <a14:foregroundMark x1="68027" y1="90408" x2="68980" y2="89592"/>
                        <a14:backgroundMark x1="39592" y1="35714" x2="40816" y2="54694"/>
                        <a14:backgroundMark x1="45578" y1="43673" x2="50204" y2="55918"/>
                        <a14:backgroundMark x1="51293" y1="69796" x2="51293" y2="69796"/>
                        <a14:backgroundMark x1="56871" y1="71020" x2="56871" y2="71020"/>
                        <a14:backgroundMark x1="53469" y1="72245" x2="53469" y2="72245"/>
                        <a14:backgroundMark x1="57823" y1="72041" x2="55102" y2="71224"/>
                        <a14:backgroundMark x1="82177" y1="36531" x2="82177" y2="52857"/>
                        <a14:backgroundMark x1="62721" y1="23061" x2="65306" y2="25510"/>
                        <a14:backgroundMark x1="65306" y1="20816" x2="60952" y2="293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102461" y="4917534"/>
            <a:ext cx="3742847" cy="24952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A7C00F6-9B0F-EFD5-E1B6-2402A90231AE}"/>
                  </a:ext>
                </a:extLst>
              </p14:cNvPr>
              <p14:cNvContentPartPr/>
              <p14:nvPr/>
            </p14:nvContentPartPr>
            <p14:xfrm>
              <a:off x="4573696" y="23151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A7C00F6-9B0F-EFD5-E1B6-2402A90231A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67576" y="1703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298C2ED-50F1-8349-EA2D-8C1A05F092CE}"/>
                  </a:ext>
                </a:extLst>
              </p14:cNvPr>
              <p14:cNvContentPartPr/>
              <p14:nvPr/>
            </p14:nvContentPartPr>
            <p14:xfrm>
              <a:off x="990801" y="8153160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298C2ED-50F1-8349-EA2D-8C1A05F092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4681" y="814704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AD2E1355-3380-364A-91B3-15E1134685A4}"/>
              </a:ext>
            </a:extLst>
          </p:cNvPr>
          <p:cNvSpPr txBox="1"/>
          <p:nvPr/>
        </p:nvSpPr>
        <p:spPr>
          <a:xfrm>
            <a:off x="28869990" y="5599265"/>
            <a:ext cx="6096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 Rounded MT Bold" panose="020F0704030504030204" pitchFamily="34" charset="0"/>
              </a:rPr>
              <a:t>A Multi-Modal Approach using Ensemble Learning and Explainable Intelligence (XAI).</a:t>
            </a:r>
            <a:endParaRPr lang="en-IN" sz="3200" dirty="0">
              <a:latin typeface="Arial Rounded MT Bold" panose="020F0704030504030204" pitchFamily="34" charset="0"/>
            </a:endParaRPr>
          </a:p>
        </p:txBody>
      </p:sp>
      <p:pic>
        <p:nvPicPr>
          <p:cNvPr id="3" name="Recording 2025-12-21 152306">
            <a:hlinkClick r:id="" action="ppaction://media"/>
            <a:extLst>
              <a:ext uri="{FF2B5EF4-FFF2-40B4-BE49-F238E27FC236}">
                <a16:creationId xmlns:a16="http://schemas.microsoft.com/office/drawing/2014/main" id="{C45B3897-03ED-031D-5435-6B398A32286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1098" t="1963" r="1849" b="3027"/>
          <a:stretch>
            <a:fillRect/>
          </a:stretch>
        </p:blipFill>
        <p:spPr>
          <a:xfrm>
            <a:off x="-42182" y="-17926"/>
            <a:ext cx="12515536" cy="6887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7767D2-8629-1D4D-FCA5-83893A1FBEB6}"/>
                  </a:ext>
                </a:extLst>
              </p14:cNvPr>
              <p14:cNvContentPartPr/>
              <p14:nvPr/>
            </p14:nvContentPartPr>
            <p14:xfrm>
              <a:off x="15164001" y="20870259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7767D2-8629-1D4D-FCA5-83893A1FBEB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157881" y="2086413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283BA66-4EAE-8DBD-FD62-A623A154ED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9267573" y="-9397316"/>
            <a:ext cx="1012875" cy="1012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055C80-DB9B-B826-EFBE-A47894BD2B96}"/>
              </a:ext>
            </a:extLst>
          </p:cNvPr>
          <p:cNvSpPr txBox="1"/>
          <p:nvPr/>
        </p:nvSpPr>
        <p:spPr>
          <a:xfrm>
            <a:off x="25973884" y="-6109275"/>
            <a:ext cx="288798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Why </a:t>
            </a:r>
            <a:r>
              <a:rPr lang="en-IN" sz="2000" b="1" dirty="0" err="1"/>
              <a:t>existiions</a:t>
            </a:r>
            <a:r>
              <a:rPr lang="en-IN" sz="2000" b="1" dirty="0"/>
              <a:t> fail?</a:t>
            </a:r>
          </a:p>
          <a:p>
            <a:r>
              <a:rPr lang="en-IN" sz="1600" b="1" dirty="0" err="1"/>
              <a:t>fas</a:t>
            </a:r>
            <a:endParaRPr lang="en-IN" sz="16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1600" dirty="0" err="1"/>
              <a:t>dsaafTraditional</a:t>
            </a:r>
            <a:r>
              <a:rPr lang="en-IN" sz="1600" dirty="0"/>
              <a:t> blacklist-based systems cannot detect</a:t>
            </a:r>
            <a:endParaRPr lang="en-IN" sz="18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There is able, and intelligent </a:t>
            </a:r>
            <a:r>
              <a:rPr lang="en-US" sz="1800" dirty="0" err="1"/>
              <a:t>afdadfdphishing</a:t>
            </a:r>
            <a:r>
              <a:rPr lang="en-US" sz="1800" dirty="0"/>
              <a:t> detection </a:t>
            </a:r>
            <a:r>
              <a:rPr lang="en-US" sz="1800" dirty="0" err="1"/>
              <a:t>sy</a:t>
            </a:r>
            <a:r>
              <a:rPr lang="en-US" sz="1800" dirty="0"/>
              <a:t> </a:t>
            </a:r>
            <a:r>
              <a:rPr lang="en-US" sz="1800" dirty="0" err="1"/>
              <a:t>simultaafneously</a:t>
            </a:r>
            <a:r>
              <a:rPr lang="en-US" sz="1800" dirty="0"/>
              <a:t> analyzes URL structure, webpage visual </a:t>
            </a:r>
            <a:r>
              <a:rPr lang="en-US" sz="1800" dirty="0" err="1"/>
              <a:t>deasign</a:t>
            </a:r>
            <a:r>
              <a:rPr lang="en-US" sz="1800" dirty="0"/>
              <a:t>, and provides transparent reasoning to the user. </a:t>
            </a:r>
            <a:r>
              <a:rPr lang="en-US" sz="1800" dirty="0" err="1"/>
              <a:t>aeff</a:t>
            </a:r>
            <a:endParaRPr lang="en-IN" sz="1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E6A404-214B-8EE1-D03E-4DB07647C828}"/>
              </a:ext>
            </a:extLst>
          </p:cNvPr>
          <p:cNvSpPr txBox="1"/>
          <p:nvPr/>
        </p:nvSpPr>
        <p:spPr>
          <a:xfrm>
            <a:off x="-16306800" y="25533910"/>
            <a:ext cx="3870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increasingly </a:t>
            </a:r>
            <a:r>
              <a:rPr lang="en-US" sz="1800" b="1" dirty="0" err="1"/>
              <a:t>qerqwersophisticated</a:t>
            </a:r>
            <a:r>
              <a:rPr lang="en-US" sz="1800" b="1" dirty="0"/>
              <a:t>, targeting users through: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800" dirty="0"/>
              <a:t>Lookalike </a:t>
            </a:r>
            <a:r>
              <a:rPr lang="en-US" sz="1800" dirty="0" err="1"/>
              <a:t>websiwefrqw</a:t>
            </a:r>
            <a:endParaRPr lang="en-US" sz="1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800" dirty="0"/>
              <a:t>Fake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800" dirty="0" err="1"/>
              <a:t>Xwofjwoagfn</a:t>
            </a:r>
            <a:r>
              <a:rPr lang="en-US" sz="1800" dirty="0"/>
              <a:t>[q0wfj portals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800" dirty="0"/>
              <a:t>Brand impersonation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DA1CDD-6397-B405-0806-0331209E2747}"/>
              </a:ext>
            </a:extLst>
          </p:cNvPr>
          <p:cNvSpPr txBox="1"/>
          <p:nvPr/>
        </p:nvSpPr>
        <p:spPr>
          <a:xfrm>
            <a:off x="-29294387" y="-6432224"/>
            <a:ext cx="3863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Problem Statement :</a:t>
            </a:r>
          </a:p>
        </p:txBody>
      </p:sp>
    </p:spTree>
    <p:extLst>
      <p:ext uri="{BB962C8B-B14F-4D97-AF65-F5344CB8AC3E}">
        <p14:creationId xmlns:p14="http://schemas.microsoft.com/office/powerpoint/2010/main" val="327228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Char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7000">
              <a:srgbClr val="00214E"/>
            </a:gs>
            <a:gs pos="100000">
              <a:srgbClr val="00214E"/>
            </a:gs>
            <a:gs pos="0">
              <a:srgbClr val="00214E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AA5081-0C5F-7FB2-4C46-8044B96AF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298C2ED-50F1-8349-EA2D-8C1A05F092CE}"/>
                  </a:ext>
                </a:extLst>
              </p14:cNvPr>
              <p14:cNvContentPartPr/>
              <p14:nvPr/>
            </p14:nvContentPartPr>
            <p14:xfrm>
              <a:off x="-27027067" y="8466670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298C2ED-50F1-8349-EA2D-8C1A05F092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7033187" y="846055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Recording 2025-12-21 152306">
            <a:hlinkClick r:id="" action="ppaction://media"/>
            <a:extLst>
              <a:ext uri="{FF2B5EF4-FFF2-40B4-BE49-F238E27FC236}">
                <a16:creationId xmlns:a16="http://schemas.microsoft.com/office/drawing/2014/main" id="{C45B3897-03ED-031D-5435-6B398A32286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1098" t="1963" r="1849" b="3027"/>
          <a:stretch>
            <a:fillRect/>
          </a:stretch>
        </p:blipFill>
        <p:spPr>
          <a:xfrm>
            <a:off x="-12767582" y="-17926"/>
            <a:ext cx="12515536" cy="68874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18E4F3-C835-3B22-104F-0BB6FCF8AC1B}"/>
              </a:ext>
            </a:extLst>
          </p:cNvPr>
          <p:cNvSpPr/>
          <p:nvPr/>
        </p:nvSpPr>
        <p:spPr>
          <a:xfrm>
            <a:off x="228600" y="182879"/>
            <a:ext cx="4205880" cy="1223889"/>
          </a:xfrm>
          <a:prstGeom prst="roundRect">
            <a:avLst/>
          </a:prstGeom>
          <a:gradFill flip="none" rotWithShape="1">
            <a:gsLst>
              <a:gs pos="100000">
                <a:srgbClr val="83C108"/>
              </a:gs>
              <a:gs pos="0">
                <a:srgbClr val="1372EB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Problem Statement :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85634A-1CBE-E8FD-309C-15266B44B53C}"/>
              </a:ext>
            </a:extLst>
          </p:cNvPr>
          <p:cNvSpPr/>
          <p:nvPr/>
        </p:nvSpPr>
        <p:spPr>
          <a:xfrm>
            <a:off x="228600" y="1600200"/>
            <a:ext cx="4205880" cy="5118840"/>
          </a:xfrm>
          <a:prstGeom prst="roundRect">
            <a:avLst>
              <a:gd name="adj" fmla="val 8416"/>
            </a:avLst>
          </a:prstGeom>
          <a:gradFill flip="none" rotWithShape="1">
            <a:gsLst>
              <a:gs pos="34000">
                <a:srgbClr val="1372EB"/>
              </a:gs>
              <a:gs pos="100000">
                <a:srgbClr val="41BAFF">
                  <a:lumMod val="98000"/>
                </a:srgbClr>
              </a:gs>
              <a:gs pos="0">
                <a:srgbClr val="1372E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Phishing attacks are becoming increasingly sophisticated, targeting users through: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Lookalike websites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Fake login portals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Brand impersonation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URL obfuscation and shortening </a:t>
            </a:r>
            <a:endParaRPr lang="en-IN" sz="2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110CFE-3F22-40AA-BE60-40F42C9CD17F}"/>
              </a:ext>
            </a:extLst>
          </p:cNvPr>
          <p:cNvSpPr/>
          <p:nvPr/>
        </p:nvSpPr>
        <p:spPr>
          <a:xfrm>
            <a:off x="4648200" y="182880"/>
            <a:ext cx="7437120" cy="6536160"/>
          </a:xfrm>
          <a:prstGeom prst="roundRect">
            <a:avLst>
              <a:gd name="adj" fmla="val 8416"/>
            </a:avLst>
          </a:prstGeom>
          <a:gradFill flip="none" rotWithShape="1">
            <a:gsLst>
              <a:gs pos="34000">
                <a:srgbClr val="1372EB"/>
              </a:gs>
              <a:gs pos="100000">
                <a:srgbClr val="41BAFF">
                  <a:lumMod val="98000"/>
                </a:srgbClr>
              </a:gs>
              <a:gs pos="0">
                <a:srgbClr val="1372E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Why existing solutions fail?</a:t>
            </a:r>
          </a:p>
          <a:p>
            <a:endParaRPr lang="en-IN" sz="20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000" dirty="0"/>
              <a:t>Traditional blacklist-based systems cannot detect zero-day phishing websites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000" dirty="0"/>
              <a:t>URL-only detection misses visual cloning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000" dirty="0"/>
              <a:t>Browser warnings are non-explainable, reducing user trust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000" dirty="0"/>
              <a:t>Indian users face phishing in regional languages and local brands</a:t>
            </a:r>
            <a:r>
              <a:rPr lang="en-IN" sz="2800" dirty="0"/>
              <a:t> </a:t>
            </a:r>
          </a:p>
          <a:p>
            <a:r>
              <a:rPr lang="en-IN" sz="2800" b="1" dirty="0"/>
              <a:t>-------------------------------------------------------------</a:t>
            </a:r>
          </a:p>
          <a:p>
            <a:r>
              <a:rPr lang="en-IN" sz="2800" b="1" dirty="0"/>
              <a:t>Core Problem?</a:t>
            </a:r>
          </a:p>
          <a:p>
            <a:endParaRPr lang="en-IN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There is no real-time, explainable, and intelligent phishing detection system that simultaneously analyzes URL structure, webpage visual design, and provides transparent reasoning to the user. </a:t>
            </a:r>
            <a:endParaRPr lang="en-IN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43151F-27C4-A8DF-442C-D527AA8742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4942" y="288385"/>
            <a:ext cx="1012875" cy="101287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6AFB4A-4F77-ED94-8382-23EC637843E7}"/>
              </a:ext>
            </a:extLst>
          </p:cNvPr>
          <p:cNvSpPr/>
          <p:nvPr/>
        </p:nvSpPr>
        <p:spPr>
          <a:xfrm>
            <a:off x="-27789268" y="3950790"/>
            <a:ext cx="5410200" cy="29768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  <a:effectLst>
            <a:glow rad="228600">
              <a:srgbClr val="FF0000">
                <a:alpha val="40000"/>
              </a:srgbClr>
            </a:glow>
            <a:outerShdw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0823EF-7AF2-88AB-C57F-975BE241984A}"/>
              </a:ext>
            </a:extLst>
          </p:cNvPr>
          <p:cNvSpPr txBox="1"/>
          <p:nvPr/>
        </p:nvSpPr>
        <p:spPr>
          <a:xfrm>
            <a:off x="-25797908" y="6536232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BEFORE</a:t>
            </a:r>
            <a:endParaRPr lang="en-IN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3B610DD-2CA5-6EBB-FB8E-F614B576C5B8}"/>
              </a:ext>
            </a:extLst>
          </p:cNvPr>
          <p:cNvSpPr/>
          <p:nvPr/>
        </p:nvSpPr>
        <p:spPr>
          <a:xfrm>
            <a:off x="29823898" y="3695698"/>
            <a:ext cx="5410200" cy="29768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88859A-7648-46E9-A5EF-FF8E0B9F981D}"/>
              </a:ext>
            </a:extLst>
          </p:cNvPr>
          <p:cNvSpPr txBox="1"/>
          <p:nvPr/>
        </p:nvSpPr>
        <p:spPr>
          <a:xfrm>
            <a:off x="32043858" y="6227020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  <a:latin typeface="Arial Rounded MT Bold" panose="020F0704030504030204" pitchFamily="34" charset="0"/>
              </a:rPr>
              <a:t>AFTER</a:t>
            </a:r>
            <a:endParaRPr lang="en-IN" dirty="0">
              <a:solidFill>
                <a:srgbClr val="92D05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5C148C-6B6D-7F4F-F80A-67BCEA72C2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22296" y="4121575"/>
            <a:ext cx="2243872" cy="2243872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FB3A0E5-991F-AB5F-BE0E-FF87640635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306598" y="3950790"/>
            <a:ext cx="1726999" cy="233144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B96CCAC-7D4B-1FC0-7C64-39BBBDC9226E}"/>
              </a:ext>
            </a:extLst>
          </p:cNvPr>
          <p:cNvCxnSpPr>
            <a:endCxn id="13" idx="1"/>
          </p:cNvCxnSpPr>
          <p:nvPr/>
        </p:nvCxnSpPr>
        <p:spPr>
          <a:xfrm>
            <a:off x="-26250028" y="5243511"/>
            <a:ext cx="827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E34921F0-634E-EC35-62BC-2E0AF7E6C3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7641335" y="4062914"/>
            <a:ext cx="1843427" cy="24180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F2A21F-32B0-54EA-091E-66027BCA23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4777136" y="5093796"/>
            <a:ext cx="721668" cy="5791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A548E4E-182D-6EBD-776E-93437DA9A12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6297" y="3827567"/>
            <a:ext cx="2399453" cy="2399453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06ED17A-7FC4-28E7-53D7-6800F73CD6D8}"/>
              </a:ext>
            </a:extLst>
          </p:cNvPr>
          <p:cNvCxnSpPr/>
          <p:nvPr/>
        </p:nvCxnSpPr>
        <p:spPr>
          <a:xfrm>
            <a:off x="31619731" y="4991919"/>
            <a:ext cx="827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396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7000">
              <a:srgbClr val="00214E"/>
            </a:gs>
            <a:gs pos="100000">
              <a:srgbClr val="00214E"/>
            </a:gs>
            <a:gs pos="0">
              <a:srgbClr val="00214E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AA5081-0C5F-7FB2-4C46-8044B96AF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298C2ED-50F1-8349-EA2D-8C1A05F092CE}"/>
                  </a:ext>
                </a:extLst>
              </p14:cNvPr>
              <p14:cNvContentPartPr/>
              <p14:nvPr/>
            </p14:nvContentPartPr>
            <p14:xfrm>
              <a:off x="990801" y="8153160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298C2ED-50F1-8349-EA2D-8C1A05F092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4681" y="814704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18E4F3-C835-3B22-104F-0BB6FCF8AC1B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oundRect">
            <a:avLst>
              <a:gd name="adj" fmla="val 3423"/>
            </a:avLst>
          </a:prstGeom>
          <a:gradFill flip="none" rotWithShape="1">
            <a:gsLst>
              <a:gs pos="100000">
                <a:srgbClr val="040437"/>
              </a:gs>
              <a:gs pos="0">
                <a:srgbClr val="1372EB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Proposed solution:</a:t>
            </a:r>
          </a:p>
          <a:p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2800" dirty="0"/>
              <a:t>A hybrid AI-based phishing detection system that: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2800" dirty="0"/>
              <a:t>Works as a real-time Chrome Extension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2800" dirty="0"/>
              <a:t>Uses multi-modal AI analysis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2800" dirty="0"/>
              <a:t>Provides instant red/green warning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2800" dirty="0"/>
              <a:t>Explains why a website is suspicious using Explainable AI</a:t>
            </a:r>
          </a:p>
          <a:p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85634A-1CBE-E8FD-309C-15266B44B53C}"/>
              </a:ext>
            </a:extLst>
          </p:cNvPr>
          <p:cNvSpPr/>
          <p:nvPr/>
        </p:nvSpPr>
        <p:spPr>
          <a:xfrm>
            <a:off x="228600" y="7421880"/>
            <a:ext cx="4205880" cy="5118840"/>
          </a:xfrm>
          <a:prstGeom prst="roundRect">
            <a:avLst>
              <a:gd name="adj" fmla="val 8416"/>
            </a:avLst>
          </a:prstGeom>
          <a:gradFill flip="none" rotWithShape="1">
            <a:gsLst>
              <a:gs pos="34000">
                <a:srgbClr val="1372EB"/>
              </a:gs>
              <a:gs pos="100000">
                <a:srgbClr val="41BAFF">
                  <a:lumMod val="98000"/>
                </a:srgbClr>
              </a:gs>
              <a:gs pos="0">
                <a:srgbClr val="1372E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Phishing attacks are becoming increasingly sophisticated, targeting users through: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Lookalike websites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Fake login portals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Brand impersonation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URL obfuscation and shortening </a:t>
            </a:r>
            <a:endParaRPr lang="en-IN" sz="2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110CFE-3F22-40AA-BE60-40F42C9CD17F}"/>
              </a:ext>
            </a:extLst>
          </p:cNvPr>
          <p:cNvSpPr/>
          <p:nvPr/>
        </p:nvSpPr>
        <p:spPr>
          <a:xfrm>
            <a:off x="13335000" y="368101"/>
            <a:ext cx="7437120" cy="6536160"/>
          </a:xfrm>
          <a:prstGeom prst="roundRect">
            <a:avLst>
              <a:gd name="adj" fmla="val 8416"/>
            </a:avLst>
          </a:prstGeom>
          <a:gradFill flip="none" rotWithShape="1">
            <a:gsLst>
              <a:gs pos="34000">
                <a:srgbClr val="1372EB"/>
              </a:gs>
              <a:gs pos="100000">
                <a:srgbClr val="41BAFF">
                  <a:lumMod val="98000"/>
                </a:srgbClr>
              </a:gs>
              <a:gs pos="0">
                <a:srgbClr val="1372E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Why existing solutions fail?</a:t>
            </a:r>
          </a:p>
          <a:p>
            <a:endParaRPr lang="en-IN" sz="20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000" dirty="0"/>
              <a:t>Traditional blacklist-based systems cannot detect zero-day phishing websites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000" dirty="0"/>
              <a:t>URL-only detection misses visual cloning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000" dirty="0"/>
              <a:t>Browser warnings are non-explainable, reducing user trust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000" dirty="0"/>
              <a:t>Indian users face phishing in regional languages and local brands</a:t>
            </a:r>
            <a:r>
              <a:rPr lang="en-IN" sz="2800" dirty="0"/>
              <a:t> </a:t>
            </a:r>
          </a:p>
          <a:p>
            <a:r>
              <a:rPr lang="en-IN" sz="2800" b="1" dirty="0"/>
              <a:t>-------------------------------------------------------------</a:t>
            </a:r>
          </a:p>
          <a:p>
            <a:r>
              <a:rPr lang="en-IN" sz="2800" b="1" dirty="0"/>
              <a:t>Core Problem?</a:t>
            </a:r>
          </a:p>
          <a:p>
            <a:endParaRPr lang="en-IN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There is no real-time, explainable, and intelligent phishing detection system that simultaneously analyzes URL structure, webpage visual design, and provides transparent reasoning to the user. </a:t>
            </a:r>
            <a:endParaRPr lang="en-IN" sz="2400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15F0BF6-897D-5097-AC5B-ED3C94B4853A}"/>
              </a:ext>
            </a:extLst>
          </p:cNvPr>
          <p:cNvSpPr/>
          <p:nvPr/>
        </p:nvSpPr>
        <p:spPr>
          <a:xfrm>
            <a:off x="228600" y="3637280"/>
            <a:ext cx="5410200" cy="29768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  <a:effectLst>
            <a:glow rad="228600">
              <a:srgbClr val="FF0000">
                <a:alpha val="40000"/>
              </a:srgbClr>
            </a:glow>
            <a:outerShdw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A4D7D6-BE29-44C3-04EC-B64F1DDAEA9D}"/>
              </a:ext>
            </a:extLst>
          </p:cNvPr>
          <p:cNvSpPr txBox="1"/>
          <p:nvPr/>
        </p:nvSpPr>
        <p:spPr>
          <a:xfrm>
            <a:off x="2219960" y="6222722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BEFORE</a:t>
            </a:r>
            <a:endParaRPr lang="en-IN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3445F3-F8B1-864A-0C63-C3FAFB5CC8A5}"/>
              </a:ext>
            </a:extLst>
          </p:cNvPr>
          <p:cNvSpPr/>
          <p:nvPr/>
        </p:nvSpPr>
        <p:spPr>
          <a:xfrm>
            <a:off x="6283960" y="3636181"/>
            <a:ext cx="5410200" cy="29768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6225C-86A1-5F1C-2B1A-13F3FA1B682F}"/>
              </a:ext>
            </a:extLst>
          </p:cNvPr>
          <p:cNvSpPr txBox="1"/>
          <p:nvPr/>
        </p:nvSpPr>
        <p:spPr>
          <a:xfrm>
            <a:off x="8503920" y="6167503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  <a:latin typeface="Arial Rounded MT Bold" panose="020F0704030504030204" pitchFamily="34" charset="0"/>
              </a:rPr>
              <a:t>AFTER</a:t>
            </a:r>
            <a:endParaRPr lang="en-IN" dirty="0">
              <a:solidFill>
                <a:srgbClr val="92D05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5839DC-20A2-3BBF-6D42-D1A1D610EE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572" y="3808065"/>
            <a:ext cx="2243872" cy="224387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21DB789-6637-D049-873C-B5E9D44270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6660" y="3891273"/>
            <a:ext cx="1726999" cy="2331449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B82983-05D0-3B54-8172-1ADF668216F3}"/>
              </a:ext>
            </a:extLst>
          </p:cNvPr>
          <p:cNvCxnSpPr>
            <a:endCxn id="12" idx="1"/>
          </p:cNvCxnSpPr>
          <p:nvPr/>
        </p:nvCxnSpPr>
        <p:spPr>
          <a:xfrm>
            <a:off x="1767840" y="4930001"/>
            <a:ext cx="827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179AFAB3-CAB7-CEE7-46D4-F4E2988742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6533" y="3749404"/>
            <a:ext cx="1843427" cy="241809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6B80ED-802B-006E-C3F2-3E1FB6EB17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0732" y="4780286"/>
            <a:ext cx="721668" cy="57911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03F35AC-C165-6E97-EE1F-50E506F85E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59" y="3768050"/>
            <a:ext cx="2399453" cy="2399453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39F91F6-E6ED-3724-3DC2-BBB5DF510857}"/>
              </a:ext>
            </a:extLst>
          </p:cNvPr>
          <p:cNvCxnSpPr/>
          <p:nvPr/>
        </p:nvCxnSpPr>
        <p:spPr>
          <a:xfrm>
            <a:off x="8079793" y="4932402"/>
            <a:ext cx="827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0862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BDF6E-24B6-7081-E01E-B1C962EFC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1CFC11-9266-DE05-A978-7473CEBA3023}"/>
              </a:ext>
            </a:extLst>
          </p:cNvPr>
          <p:cNvSpPr/>
          <p:nvPr/>
        </p:nvSpPr>
        <p:spPr>
          <a:xfrm>
            <a:off x="211015" y="211017"/>
            <a:ext cx="11488615" cy="1008184"/>
          </a:xfrm>
          <a:prstGeom prst="roundRect">
            <a:avLst>
              <a:gd name="adj" fmla="val 27913"/>
            </a:avLst>
          </a:prstGeom>
          <a:gradFill flip="none" rotWithShape="1">
            <a:gsLst>
              <a:gs pos="100000">
                <a:srgbClr val="41BAFF"/>
              </a:gs>
              <a:gs pos="0">
                <a:srgbClr val="1372EB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System Architecture</a:t>
            </a:r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955934-4C28-3C75-90A4-6F2E9DEEB86C}"/>
              </a:ext>
            </a:extLst>
          </p:cNvPr>
          <p:cNvSpPr/>
          <p:nvPr/>
        </p:nvSpPr>
        <p:spPr>
          <a:xfrm>
            <a:off x="-6520180" y="3891273"/>
            <a:ext cx="5410200" cy="29768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  <a:effectLst>
            <a:glow rad="228600">
              <a:srgbClr val="FF0000">
                <a:alpha val="40000"/>
              </a:srgbClr>
            </a:glow>
            <a:outerShdw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DC9F07-FD97-F807-0E29-3BBDABF7C570}"/>
              </a:ext>
            </a:extLst>
          </p:cNvPr>
          <p:cNvSpPr txBox="1"/>
          <p:nvPr/>
        </p:nvSpPr>
        <p:spPr>
          <a:xfrm>
            <a:off x="-4528820" y="6476715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BEFORE</a:t>
            </a:r>
            <a:endParaRPr lang="en-IN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5EE6EEF-96C8-D0FF-2EAD-85B6A132DBAF}"/>
              </a:ext>
            </a:extLst>
          </p:cNvPr>
          <p:cNvSpPr/>
          <p:nvPr/>
        </p:nvSpPr>
        <p:spPr>
          <a:xfrm>
            <a:off x="14302544" y="3719389"/>
            <a:ext cx="5410200" cy="29768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223257-A99A-3F92-4539-72F81386ADCC}"/>
              </a:ext>
            </a:extLst>
          </p:cNvPr>
          <p:cNvSpPr txBox="1"/>
          <p:nvPr/>
        </p:nvSpPr>
        <p:spPr>
          <a:xfrm>
            <a:off x="16522504" y="6250711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  <a:latin typeface="Arial Rounded MT Bold" panose="020F0704030504030204" pitchFamily="34" charset="0"/>
              </a:rPr>
              <a:t>AFTER</a:t>
            </a:r>
            <a:endParaRPr lang="en-IN" dirty="0">
              <a:solidFill>
                <a:srgbClr val="92D05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E64E42-9785-3D57-8E48-2DB378E12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53208" y="4062058"/>
            <a:ext cx="2243872" cy="224387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376609E-BB5A-1335-C188-80C299771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85244" y="3974481"/>
            <a:ext cx="1726999" cy="2331449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B46E02-23ED-3A78-1914-8C262239E029}"/>
              </a:ext>
            </a:extLst>
          </p:cNvPr>
          <p:cNvCxnSpPr>
            <a:endCxn id="12" idx="1"/>
          </p:cNvCxnSpPr>
          <p:nvPr/>
        </p:nvCxnSpPr>
        <p:spPr>
          <a:xfrm>
            <a:off x="-4980940" y="5183994"/>
            <a:ext cx="827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A17C24C7-7776-0AEF-72EE-2384BC2DB5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508048" y="5034279"/>
            <a:ext cx="721668" cy="57911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A583566-38A1-860B-B2D2-6CDF307ACE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4943" y="3851258"/>
            <a:ext cx="2399453" cy="2399453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53D318-6F8D-AE38-41D6-D9AC5C47FC72}"/>
              </a:ext>
            </a:extLst>
          </p:cNvPr>
          <p:cNvCxnSpPr/>
          <p:nvPr/>
        </p:nvCxnSpPr>
        <p:spPr>
          <a:xfrm>
            <a:off x="16098377" y="5015610"/>
            <a:ext cx="827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9A99FD6F-D88A-AA33-C2ED-80078CF77E74}"/>
              </a:ext>
            </a:extLst>
          </p:cNvPr>
          <p:cNvCxnSpPr>
            <a:cxnSpLocks/>
          </p:cNvCxnSpPr>
          <p:nvPr/>
        </p:nvCxnSpPr>
        <p:spPr>
          <a:xfrm rot="10800000" flipV="1">
            <a:off x="8203663" y="3298031"/>
            <a:ext cx="502053" cy="10644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rgbClr val="F967DD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CE3F2BA2-F2CA-2A7B-3F59-4CF3CE1529A5}"/>
              </a:ext>
            </a:extLst>
          </p:cNvPr>
          <p:cNvCxnSpPr>
            <a:cxnSpLocks/>
          </p:cNvCxnSpPr>
          <p:nvPr/>
        </p:nvCxnSpPr>
        <p:spPr>
          <a:xfrm rot="10800000" flipV="1">
            <a:off x="8197062" y="3204592"/>
            <a:ext cx="502053" cy="10644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rgbClr val="F967DD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3C6AEBFC-492C-1389-E539-C83EFD74A96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197062" y="3399585"/>
            <a:ext cx="508653" cy="1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rgbClr val="F967DD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A75F895-CAD9-74F2-7678-D6A4F389B082}"/>
              </a:ext>
            </a:extLst>
          </p:cNvPr>
          <p:cNvSpPr/>
          <p:nvPr/>
        </p:nvSpPr>
        <p:spPr>
          <a:xfrm>
            <a:off x="6189236" y="2959964"/>
            <a:ext cx="782848" cy="676135"/>
          </a:xfrm>
          <a:prstGeom prst="roundRect">
            <a:avLst/>
          </a:prstGeom>
          <a:solidFill>
            <a:srgbClr val="FFF1FC"/>
          </a:solidFill>
          <a:ln>
            <a:noFill/>
          </a:ln>
          <a:effectLst>
            <a:glow rad="228600">
              <a:srgbClr val="F967DD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rgbClr val="ED932F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6D33586-928B-F20F-BFD2-CED3C717BDF5}"/>
              </a:ext>
            </a:extLst>
          </p:cNvPr>
          <p:cNvSpPr/>
          <p:nvPr/>
        </p:nvSpPr>
        <p:spPr>
          <a:xfrm>
            <a:off x="8705717" y="2959964"/>
            <a:ext cx="782848" cy="676135"/>
          </a:xfrm>
          <a:prstGeom prst="roundRect">
            <a:avLst/>
          </a:prstGeom>
          <a:solidFill>
            <a:srgbClr val="F3FEFA"/>
          </a:solidFill>
          <a:ln>
            <a:noFill/>
          </a:ln>
          <a:effectLst>
            <a:glow rad="228600">
              <a:srgbClr val="6EF2BD">
                <a:alpha val="40000"/>
              </a:srgbClr>
            </a:glow>
            <a:outerShdw blurRad="50800" dist="50800" dir="5400000" sx="6000" sy="6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rgbClr val="ED932F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20F6A10-3070-F7E4-74E7-6153D3AC6367}"/>
              </a:ext>
            </a:extLst>
          </p:cNvPr>
          <p:cNvSpPr/>
          <p:nvPr/>
        </p:nvSpPr>
        <p:spPr>
          <a:xfrm>
            <a:off x="10164089" y="3105984"/>
            <a:ext cx="623327" cy="404499"/>
          </a:xfrm>
          <a:prstGeom prst="roundRect">
            <a:avLst/>
          </a:prstGeom>
          <a:solidFill>
            <a:srgbClr val="F0F2FE"/>
          </a:solidFill>
          <a:ln>
            <a:noFill/>
          </a:ln>
          <a:effectLst>
            <a:glow rad="228600">
              <a:srgbClr val="A5B3F9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rgbClr val="ED932F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76048A5-AFF6-D663-FC6F-16E45288F8DA}"/>
              </a:ext>
            </a:extLst>
          </p:cNvPr>
          <p:cNvSpPr/>
          <p:nvPr/>
        </p:nvSpPr>
        <p:spPr>
          <a:xfrm>
            <a:off x="10164089" y="3894576"/>
            <a:ext cx="623327" cy="404499"/>
          </a:xfrm>
          <a:prstGeom prst="roundRect">
            <a:avLst/>
          </a:prstGeom>
          <a:solidFill>
            <a:srgbClr val="EFE6FE"/>
          </a:solidFill>
          <a:ln>
            <a:noFill/>
          </a:ln>
          <a:effectLst>
            <a:glow rad="228600">
              <a:srgbClr val="AC75D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rgbClr val="ED932F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F68222-5683-8589-97C0-82D99A509691}"/>
              </a:ext>
            </a:extLst>
          </p:cNvPr>
          <p:cNvSpPr/>
          <p:nvPr/>
        </p:nvSpPr>
        <p:spPr>
          <a:xfrm>
            <a:off x="10137617" y="2317393"/>
            <a:ext cx="623327" cy="404499"/>
          </a:xfrm>
          <a:prstGeom prst="roundRect">
            <a:avLst/>
          </a:prstGeom>
          <a:solidFill>
            <a:srgbClr val="F0F7EB"/>
          </a:solidFill>
          <a:ln>
            <a:noFill/>
          </a:ln>
          <a:effectLst>
            <a:glow rad="228600">
              <a:schemeClr val="accent6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rgbClr val="ED932F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B991943-F5A2-DB17-C6F8-D747DBBB0FE2}"/>
              </a:ext>
            </a:extLst>
          </p:cNvPr>
          <p:cNvSpPr/>
          <p:nvPr/>
        </p:nvSpPr>
        <p:spPr>
          <a:xfrm>
            <a:off x="7420817" y="2959964"/>
            <a:ext cx="782848" cy="697422"/>
          </a:xfrm>
          <a:prstGeom prst="roundRect">
            <a:avLst/>
          </a:prstGeom>
          <a:solidFill>
            <a:srgbClr val="FFF5EF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rgbClr val="ED932F"/>
              </a:solidFill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794FB627-3827-A026-6BBA-80D154BC1EE7}"/>
              </a:ext>
            </a:extLst>
          </p:cNvPr>
          <p:cNvCxnSpPr>
            <a:cxnSpLocks/>
            <a:stCxn id="27" idx="3"/>
            <a:endCxn id="30" idx="1"/>
          </p:cNvCxnSpPr>
          <p:nvPr/>
        </p:nvCxnSpPr>
        <p:spPr>
          <a:xfrm flipV="1">
            <a:off x="9488564" y="2519642"/>
            <a:ext cx="649053" cy="778389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9181B4B1-2274-600F-8AD9-04FB778DBEF0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9488564" y="3298031"/>
            <a:ext cx="675525" cy="10204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2E4F5ADA-995B-EC6C-B9D2-BA535A011531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>
            <a:off x="9488564" y="3298031"/>
            <a:ext cx="675525" cy="798795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DA9E74E-3662-ECF6-A6E1-7C255C4D774E}"/>
              </a:ext>
            </a:extLst>
          </p:cNvPr>
          <p:cNvSpPr txBox="1"/>
          <p:nvPr/>
        </p:nvSpPr>
        <p:spPr>
          <a:xfrm>
            <a:off x="8900049" y="3745937"/>
            <a:ext cx="691124" cy="294341"/>
          </a:xfrm>
          <a:prstGeom prst="rect">
            <a:avLst/>
          </a:prstGeom>
          <a:solidFill>
            <a:srgbClr val="EDF1FC"/>
          </a:solidFill>
          <a:ln>
            <a:noFill/>
          </a:ln>
          <a:effectLst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8C57F7"/>
                </a:solidFill>
                <a:latin typeface="Arial Black" panose="020B0A04020102020204" pitchFamily="34" charset="0"/>
              </a:rPr>
              <a:t>AI/ML</a:t>
            </a:r>
            <a:endParaRPr lang="en-IN" sz="1050" dirty="0">
              <a:solidFill>
                <a:srgbClr val="8C57F7"/>
              </a:solidFill>
              <a:latin typeface="Arial Black" panose="020B0A04020102020204" pitchFamily="34" charset="0"/>
            </a:endParaRPr>
          </a:p>
        </p:txBody>
      </p:sp>
      <p:pic>
        <p:nvPicPr>
          <p:cNvPr id="38" name="Picture 37" descr="Collection of HQ Python Logo PNG. | PlusPNG">
            <a:extLst>
              <a:ext uri="{FF2B5EF4-FFF2-40B4-BE49-F238E27FC236}">
                <a16:creationId xmlns:a16="http://schemas.microsoft.com/office/drawing/2014/main" id="{ECB58B09-4635-A15E-CADC-9F5A6D802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610" y="3057986"/>
            <a:ext cx="517075" cy="51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F9652C6-512E-CC73-BF88-2E1D79D2FD5B}"/>
              </a:ext>
            </a:extLst>
          </p:cNvPr>
          <p:cNvSpPr txBox="1"/>
          <p:nvPr/>
        </p:nvSpPr>
        <p:spPr>
          <a:xfrm>
            <a:off x="7416151" y="3757293"/>
            <a:ext cx="820980" cy="259712"/>
          </a:xfrm>
          <a:prstGeom prst="rect">
            <a:avLst/>
          </a:prstGeom>
          <a:solidFill>
            <a:srgbClr val="EDF1FC"/>
          </a:solidFill>
          <a:ln>
            <a:noFill/>
          </a:ln>
          <a:effectLst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PYTHON</a:t>
            </a:r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22F469-CCE5-5E2A-0087-65711D992D04}"/>
              </a:ext>
            </a:extLst>
          </p:cNvPr>
          <p:cNvSpPr txBox="1"/>
          <p:nvPr/>
        </p:nvSpPr>
        <p:spPr>
          <a:xfrm>
            <a:off x="6204337" y="3745937"/>
            <a:ext cx="873284" cy="277026"/>
          </a:xfrm>
          <a:prstGeom prst="rect">
            <a:avLst/>
          </a:prstGeom>
          <a:solidFill>
            <a:srgbClr val="EDF1FC"/>
          </a:solidFill>
          <a:ln>
            <a:noFill/>
          </a:ln>
          <a:effectLst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3DAABF"/>
                </a:solidFill>
                <a:latin typeface="Arial Black" panose="020B0A04020102020204" pitchFamily="34" charset="0"/>
              </a:rPr>
              <a:t>Fast API</a:t>
            </a:r>
            <a:endParaRPr lang="en-IN" sz="1000" dirty="0">
              <a:solidFill>
                <a:srgbClr val="3DAABF"/>
              </a:solidFill>
              <a:latin typeface="Arial Black" panose="020B0A04020102020204" pitchFamily="34" charset="0"/>
            </a:endParaRPr>
          </a:p>
        </p:txBody>
      </p:sp>
      <p:pic>
        <p:nvPicPr>
          <p:cNvPr id="41" name="Picture 4">
            <a:extLst>
              <a:ext uri="{FF2B5EF4-FFF2-40B4-BE49-F238E27FC236}">
                <a16:creationId xmlns:a16="http://schemas.microsoft.com/office/drawing/2014/main" id="{54F230B2-C1B4-84D7-52A2-962902536A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0" r="18620"/>
          <a:stretch/>
        </p:blipFill>
        <p:spPr bwMode="auto">
          <a:xfrm>
            <a:off x="10229186" y="2267617"/>
            <a:ext cx="491821" cy="483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10">
            <a:extLst>
              <a:ext uri="{FF2B5EF4-FFF2-40B4-BE49-F238E27FC236}">
                <a16:creationId xmlns:a16="http://schemas.microsoft.com/office/drawing/2014/main" id="{A7C59FF7-0625-BD72-A5F1-E947467D6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294095" y="3929889"/>
            <a:ext cx="427444" cy="33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245A44BF-2339-B14F-7BBF-FE6851F32D97}"/>
              </a:ext>
            </a:extLst>
          </p:cNvPr>
          <p:cNvGrpSpPr/>
          <p:nvPr/>
        </p:nvGrpSpPr>
        <p:grpSpPr>
          <a:xfrm>
            <a:off x="118271" y="3929889"/>
            <a:ext cx="1329583" cy="1618942"/>
            <a:chOff x="449294" y="3113546"/>
            <a:chExt cx="1329583" cy="1618942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B2BB325A-BD3A-8670-3CB1-BD7F2AA4C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57636" y="3113546"/>
              <a:ext cx="1124783" cy="147542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FDC9513-260B-7C41-F9CC-B519D215A744}"/>
                </a:ext>
              </a:extLst>
            </p:cNvPr>
            <p:cNvSpPr txBox="1"/>
            <p:nvPr/>
          </p:nvSpPr>
          <p:spPr>
            <a:xfrm>
              <a:off x="449294" y="4455462"/>
              <a:ext cx="1329583" cy="277026"/>
            </a:xfrm>
            <a:prstGeom prst="rect">
              <a:avLst/>
            </a:prstGeom>
            <a:solidFill>
              <a:srgbClr val="EDF1FC"/>
            </a:solidFill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rgbClr val="B18DF9"/>
                  </a:solidFill>
                  <a:latin typeface="Arial Black" panose="020B0A04020102020204" pitchFamily="34" charset="0"/>
                </a:rPr>
                <a:t>User Frontend</a:t>
              </a:r>
              <a:endParaRPr lang="en-IN" dirty="0">
                <a:solidFill>
                  <a:srgbClr val="B18DF9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45" name="Left Brace 44">
            <a:extLst>
              <a:ext uri="{FF2B5EF4-FFF2-40B4-BE49-F238E27FC236}">
                <a16:creationId xmlns:a16="http://schemas.microsoft.com/office/drawing/2014/main" id="{854ACCD2-9F6E-A316-5963-29C7655A9163}"/>
              </a:ext>
            </a:extLst>
          </p:cNvPr>
          <p:cNvSpPr/>
          <p:nvPr/>
        </p:nvSpPr>
        <p:spPr>
          <a:xfrm rot="16200000" flipH="1">
            <a:off x="7426839" y="1366240"/>
            <a:ext cx="559027" cy="2593109"/>
          </a:xfrm>
          <a:prstGeom prst="leftBrace">
            <a:avLst>
              <a:gd name="adj1" fmla="val 49560"/>
              <a:gd name="adj2" fmla="val 50754"/>
            </a:avLst>
          </a:prstGeom>
          <a:ln w="9525" cap="flat" cmpd="sng" algn="ctr">
            <a:solidFill>
              <a:srgbClr val="F967DD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17125A3-0E3A-EDE1-68F2-1E9C22A6D0B7}"/>
              </a:ext>
            </a:extLst>
          </p:cNvPr>
          <p:cNvGrpSpPr/>
          <p:nvPr/>
        </p:nvGrpSpPr>
        <p:grpSpPr>
          <a:xfrm>
            <a:off x="6578115" y="1896410"/>
            <a:ext cx="2256590" cy="486871"/>
            <a:chOff x="5645182" y="1125881"/>
            <a:chExt cx="3457473" cy="745968"/>
          </a:xfrm>
          <a:solidFill>
            <a:srgbClr val="FBF7F9"/>
          </a:solidFill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904242F4-B389-FFD7-840A-916187FF50C3}"/>
                </a:ext>
              </a:extLst>
            </p:cNvPr>
            <p:cNvSpPr/>
            <p:nvPr/>
          </p:nvSpPr>
          <p:spPr>
            <a:xfrm>
              <a:off x="5645182" y="1125881"/>
              <a:ext cx="3457473" cy="745968"/>
            </a:xfrm>
            <a:prstGeom prst="roundRect">
              <a:avLst>
                <a:gd name="adj" fmla="val 14488"/>
              </a:avLst>
            </a:prstGeom>
            <a:grpFill/>
            <a:ln>
              <a:noFill/>
            </a:ln>
            <a:effectLst>
              <a:glow rad="228600">
                <a:srgbClr val="E8CEDD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rgbClr val="8C57F7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Backend</a:t>
              </a:r>
              <a:endParaRPr lang="en-IN" sz="3200" b="1" dirty="0">
                <a:solidFill>
                  <a:srgbClr val="8C57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83" name="Picture 2" descr="Ashampoo WinOptimizer 14">
              <a:extLst>
                <a:ext uri="{FF2B5EF4-FFF2-40B4-BE49-F238E27FC236}">
                  <a16:creationId xmlns:a16="http://schemas.microsoft.com/office/drawing/2014/main" id="{256107CD-DAD6-2878-1FF9-52450A6FEA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1366" y="1254867"/>
              <a:ext cx="516031" cy="516031"/>
            </a:xfrm>
            <a:prstGeom prst="rect">
              <a:avLst/>
            </a:prstGeom>
            <a:grpFill/>
          </p:spPr>
        </p:pic>
      </p:grpSp>
      <p:pic>
        <p:nvPicPr>
          <p:cNvPr id="47" name="3D Model 139">
            <a:extLst>
              <a:ext uri="{FF2B5EF4-FFF2-40B4-BE49-F238E27FC236}">
                <a16:creationId xmlns:a16="http://schemas.microsoft.com/office/drawing/2014/main" id="{C6A80720-F845-BE37-4238-C202726FF557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55" t="14045" r="27224" b="40089"/>
          <a:stretch/>
        </p:blipFill>
        <p:spPr>
          <a:xfrm>
            <a:off x="8834707" y="3042356"/>
            <a:ext cx="521881" cy="50905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13ED7DB-797E-380D-E83E-AB50B7738EE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065" y="3010571"/>
            <a:ext cx="597021" cy="597020"/>
          </a:xfrm>
          <a:prstGeom prst="rect">
            <a:avLst/>
          </a:prstGeom>
        </p:spPr>
      </p:pic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F9C04AC7-C8E3-D390-759A-F1B6C5D674A8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 flipV="1">
            <a:off x="6973187" y="3308674"/>
            <a:ext cx="447629" cy="6028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rgbClr val="F967DD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4" name="Picture 83">
            <a:extLst>
              <a:ext uri="{FF2B5EF4-FFF2-40B4-BE49-F238E27FC236}">
                <a16:creationId xmlns:a16="http://schemas.microsoft.com/office/drawing/2014/main" id="{25866C54-C6C3-C98F-2F33-C794F7B6FE7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04885" y="3138615"/>
            <a:ext cx="366214" cy="366214"/>
          </a:xfrm>
          <a:prstGeom prst="rect">
            <a:avLst/>
          </a:prstGeom>
        </p:spPr>
      </p:pic>
      <p:grpSp>
        <p:nvGrpSpPr>
          <p:cNvPr id="88" name="Group 87">
            <a:extLst>
              <a:ext uri="{FF2B5EF4-FFF2-40B4-BE49-F238E27FC236}">
                <a16:creationId xmlns:a16="http://schemas.microsoft.com/office/drawing/2014/main" id="{ADBEFABC-DE01-AFFA-4F72-F271F777FD06}"/>
              </a:ext>
            </a:extLst>
          </p:cNvPr>
          <p:cNvGrpSpPr/>
          <p:nvPr/>
        </p:nvGrpSpPr>
        <p:grpSpPr>
          <a:xfrm>
            <a:off x="2434911" y="2943192"/>
            <a:ext cx="782848" cy="697422"/>
            <a:chOff x="2264314" y="2650022"/>
            <a:chExt cx="782848" cy="697422"/>
          </a:xfrm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53E9245B-3B37-34AB-BC56-CC3C3094309B}"/>
                </a:ext>
              </a:extLst>
            </p:cNvPr>
            <p:cNvSpPr/>
            <p:nvPr/>
          </p:nvSpPr>
          <p:spPr>
            <a:xfrm>
              <a:off x="2264314" y="2650022"/>
              <a:ext cx="782848" cy="697422"/>
            </a:xfrm>
            <a:prstGeom prst="roundRect">
              <a:avLst/>
            </a:prstGeom>
            <a:solidFill>
              <a:srgbClr val="FFF5EF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rgbClr val="ED932F"/>
                </a:solidFill>
              </a:endParaRPr>
            </a:p>
          </p:txBody>
        </p: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A85320D3-8B8D-446D-F04E-B0446B497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396241" y="2752240"/>
              <a:ext cx="492985" cy="492985"/>
            </a:xfrm>
            <a:prstGeom prst="rect">
              <a:avLst/>
            </a:prstGeom>
          </p:spPr>
        </p:pic>
      </p:grp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64A1FA8D-B228-C627-3075-D174DC611512}"/>
              </a:ext>
            </a:extLst>
          </p:cNvPr>
          <p:cNvCxnSpPr>
            <a:cxnSpLocks/>
            <a:stCxn id="21" idx="1"/>
            <a:endCxn id="86" idx="3"/>
          </p:cNvCxnSpPr>
          <p:nvPr/>
        </p:nvCxnSpPr>
        <p:spPr>
          <a:xfrm rot="10800000">
            <a:off x="3217760" y="3291904"/>
            <a:ext cx="2971477" cy="6129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4" name="Picture 93">
            <a:extLst>
              <a:ext uri="{FF2B5EF4-FFF2-40B4-BE49-F238E27FC236}">
                <a16:creationId xmlns:a16="http://schemas.microsoft.com/office/drawing/2014/main" id="{AC20BCD2-6785-5722-027C-700D215AE62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2744" y="2851304"/>
            <a:ext cx="428846" cy="428846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A128D8D6-E191-5732-8BA7-DBC3B850602D}"/>
              </a:ext>
            </a:extLst>
          </p:cNvPr>
          <p:cNvSpPr txBox="1"/>
          <p:nvPr/>
        </p:nvSpPr>
        <p:spPr>
          <a:xfrm>
            <a:off x="4073281" y="3258504"/>
            <a:ext cx="14076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URL &amp; screenshot</a:t>
            </a:r>
            <a:endParaRPr lang="en-IN" sz="1100" b="1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3225060C-5468-5785-B4D9-DD57737DB93D}"/>
              </a:ext>
            </a:extLst>
          </p:cNvPr>
          <p:cNvSpPr/>
          <p:nvPr/>
        </p:nvSpPr>
        <p:spPr>
          <a:xfrm>
            <a:off x="7279240" y="5245951"/>
            <a:ext cx="1181785" cy="107451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glow rad="228600">
              <a:srgbClr val="96C3EF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rgbClr val="ED932F"/>
              </a:solidFill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C4CF6AE-BE47-95B6-0A40-C8687C10EF5E}"/>
              </a:ext>
            </a:extLst>
          </p:cNvPr>
          <p:cNvGrpSpPr/>
          <p:nvPr/>
        </p:nvGrpSpPr>
        <p:grpSpPr>
          <a:xfrm>
            <a:off x="7346300" y="5256120"/>
            <a:ext cx="1050850" cy="988565"/>
            <a:chOff x="7189443" y="4557555"/>
            <a:chExt cx="1502257" cy="1575759"/>
          </a:xfrm>
        </p:grpSpPr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9F891E3F-A9B9-D1BD-6CC7-13F6F912F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l="29257" r="2002" b="6803"/>
            <a:stretch>
              <a:fillRect/>
            </a:stretch>
          </p:blipFill>
          <p:spPr>
            <a:xfrm>
              <a:off x="7189443" y="5376862"/>
              <a:ext cx="1502257" cy="756452"/>
            </a:xfrm>
            <a:prstGeom prst="rect">
              <a:avLst/>
            </a:prstGeom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1742F0DB-E0C5-90E6-F4E8-8AD0F5726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r="72740" b="13101"/>
            <a:stretch>
              <a:fillRect/>
            </a:stretch>
          </p:blipFill>
          <p:spPr>
            <a:xfrm>
              <a:off x="7482094" y="4557555"/>
              <a:ext cx="840103" cy="841120"/>
            </a:xfrm>
            <a:prstGeom prst="rect">
              <a:avLst/>
            </a:prstGeom>
          </p:spPr>
        </p:pic>
      </p:grp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C578648C-9BE6-9FBF-9AF6-E40312B4F879}"/>
              </a:ext>
            </a:extLst>
          </p:cNvPr>
          <p:cNvCxnSpPr>
            <a:stCxn id="39" idx="2"/>
            <a:endCxn id="98" idx="0"/>
          </p:cNvCxnSpPr>
          <p:nvPr/>
        </p:nvCxnSpPr>
        <p:spPr>
          <a:xfrm>
            <a:off x="7826641" y="4017005"/>
            <a:ext cx="18205" cy="1239115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1BD6D137-076E-56DD-CD4F-BD77088C2EC7}"/>
              </a:ext>
            </a:extLst>
          </p:cNvPr>
          <p:cNvCxnSpPr>
            <a:stCxn id="21" idx="1"/>
          </p:cNvCxnSpPr>
          <p:nvPr/>
        </p:nvCxnSpPr>
        <p:spPr>
          <a:xfrm rot="10800000" flipV="1">
            <a:off x="3217762" y="3298031"/>
            <a:ext cx="2971474" cy="1227669"/>
          </a:xfrm>
          <a:prstGeom prst="bentConnector3">
            <a:avLst>
              <a:gd name="adj1" fmla="val 14943"/>
            </a:avLst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CF127BE-5E69-C125-57D9-D00461975BF9}"/>
              </a:ext>
            </a:extLst>
          </p:cNvPr>
          <p:cNvSpPr/>
          <p:nvPr/>
        </p:nvSpPr>
        <p:spPr>
          <a:xfrm>
            <a:off x="2418405" y="4176990"/>
            <a:ext cx="782848" cy="6974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glow rad="228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rgbClr val="ED932F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42CE889-115E-9E52-B219-7B7A0A645E23}"/>
              </a:ext>
            </a:extLst>
          </p:cNvPr>
          <p:cNvSpPr txBox="1"/>
          <p:nvPr/>
        </p:nvSpPr>
        <p:spPr>
          <a:xfrm>
            <a:off x="4309030" y="4285597"/>
            <a:ext cx="1222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Safe</a:t>
            </a:r>
            <a:endParaRPr lang="en-IN" sz="1600" b="1" dirty="0"/>
          </a:p>
        </p:txBody>
      </p:sp>
      <p:pic>
        <p:nvPicPr>
          <p:cNvPr id="112" name="Graphic 111">
            <a:extLst>
              <a:ext uri="{FF2B5EF4-FFF2-40B4-BE49-F238E27FC236}">
                <a16:creationId xmlns:a16="http://schemas.microsoft.com/office/drawing/2014/main" id="{2AF5C3FB-8547-3E8C-33D5-343322935E2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flipH="1">
            <a:off x="2441599" y="4170683"/>
            <a:ext cx="697422" cy="697422"/>
          </a:xfrm>
          <a:prstGeom prst="rect">
            <a:avLst/>
          </a:prstGeom>
        </p:spPr>
      </p:pic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64E535F2-719B-7CD8-851B-795477EB4E2D}"/>
              </a:ext>
            </a:extLst>
          </p:cNvPr>
          <p:cNvSpPr/>
          <p:nvPr/>
        </p:nvSpPr>
        <p:spPr>
          <a:xfrm>
            <a:off x="2480637" y="5629355"/>
            <a:ext cx="782848" cy="697422"/>
          </a:xfrm>
          <a:prstGeom prst="roundRect">
            <a:avLst/>
          </a:prstGeom>
          <a:solidFill>
            <a:srgbClr val="FED3CC"/>
          </a:solidFill>
          <a:ln>
            <a:noFill/>
          </a:ln>
          <a:effectLst>
            <a:glow rad="228600">
              <a:srgbClr val="FF0000">
                <a:alpha val="40000"/>
              </a:srgbClr>
            </a:glow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rgbClr val="ED932F"/>
              </a:solidFill>
            </a:endParaRPr>
          </a:p>
        </p:txBody>
      </p:sp>
      <p:pic>
        <p:nvPicPr>
          <p:cNvPr id="116" name="Graphic 115">
            <a:extLst>
              <a:ext uri="{FF2B5EF4-FFF2-40B4-BE49-F238E27FC236}">
                <a16:creationId xmlns:a16="http://schemas.microsoft.com/office/drawing/2014/main" id="{BE31D9B0-7E29-B6C5-8DEE-88784F55093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flipH="1">
            <a:off x="2546975" y="5623048"/>
            <a:ext cx="670622" cy="670622"/>
          </a:xfrm>
          <a:prstGeom prst="rect">
            <a:avLst/>
          </a:prstGeom>
        </p:spPr>
      </p:pic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98E93841-305E-B865-A0B5-0E7B1AF9C499}"/>
              </a:ext>
            </a:extLst>
          </p:cNvPr>
          <p:cNvCxnSpPr>
            <a:cxnSpLocks/>
            <a:stCxn id="21" idx="1"/>
            <a:endCxn id="113" idx="3"/>
          </p:cNvCxnSpPr>
          <p:nvPr/>
        </p:nvCxnSpPr>
        <p:spPr>
          <a:xfrm rot="10800000" flipV="1">
            <a:off x="3263486" y="3298032"/>
            <a:ext cx="2925751" cy="2680034"/>
          </a:xfrm>
          <a:prstGeom prst="bentConnector3">
            <a:avLst>
              <a:gd name="adj1" fmla="val 15186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99B2524A-A895-F154-7E26-982EC041F716}"/>
              </a:ext>
            </a:extLst>
          </p:cNvPr>
          <p:cNvSpPr txBox="1"/>
          <p:nvPr/>
        </p:nvSpPr>
        <p:spPr>
          <a:xfrm>
            <a:off x="4099504" y="5711514"/>
            <a:ext cx="1222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Suspicious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386626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5C12CF-C039-F7F3-548A-7582CE106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B701DF-5A2B-B845-F5B2-F6695ABAC767}"/>
              </a:ext>
            </a:extLst>
          </p:cNvPr>
          <p:cNvSpPr/>
          <p:nvPr/>
        </p:nvSpPr>
        <p:spPr>
          <a:xfrm>
            <a:off x="0" y="0"/>
            <a:ext cx="12191999" cy="6984476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41BAFF"/>
              </a:gs>
              <a:gs pos="0">
                <a:srgbClr val="1372EB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3ABCD48-6A72-C403-A09A-313065EC29A7}"/>
              </a:ext>
            </a:extLst>
          </p:cNvPr>
          <p:cNvGrpSpPr/>
          <p:nvPr/>
        </p:nvGrpSpPr>
        <p:grpSpPr>
          <a:xfrm>
            <a:off x="761427" y="8602010"/>
            <a:ext cx="10669145" cy="4430367"/>
            <a:chOff x="761427" y="8602010"/>
            <a:chExt cx="10669145" cy="4430367"/>
          </a:xfrm>
        </p:grpSpPr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EE3467BF-114B-D8CF-E1AF-BF5990E5633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846819" y="10003631"/>
              <a:ext cx="502053" cy="10644"/>
            </a:xfrm>
            <a:prstGeom prst="curvedConnector3">
              <a:avLst>
                <a:gd name="adj1" fmla="val 50000"/>
              </a:avLst>
            </a:prstGeom>
            <a:ln w="9525" cap="flat" cmpd="sng" algn="ctr">
              <a:solidFill>
                <a:srgbClr val="F967DD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9658652F-916C-D80F-B86B-F9510757588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840218" y="9910192"/>
              <a:ext cx="502053" cy="10644"/>
            </a:xfrm>
            <a:prstGeom prst="curvedConnector3">
              <a:avLst>
                <a:gd name="adj1" fmla="val 50000"/>
              </a:avLst>
            </a:prstGeom>
            <a:ln w="9525" cap="flat" cmpd="sng" algn="ctr">
              <a:solidFill>
                <a:srgbClr val="F967DD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5C5679FF-42B8-1F3C-E4B3-271BB40F673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840218" y="10105185"/>
              <a:ext cx="508653" cy="1"/>
            </a:xfrm>
            <a:prstGeom prst="curvedConnector3">
              <a:avLst>
                <a:gd name="adj1" fmla="val 50000"/>
              </a:avLst>
            </a:prstGeom>
            <a:ln w="9525" cap="flat" cmpd="sng" algn="ctr">
              <a:solidFill>
                <a:srgbClr val="F967DD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9C24A55-0D4E-B116-3750-BE63882C98F6}"/>
                </a:ext>
              </a:extLst>
            </p:cNvPr>
            <p:cNvSpPr/>
            <p:nvPr/>
          </p:nvSpPr>
          <p:spPr>
            <a:xfrm>
              <a:off x="6832392" y="9665564"/>
              <a:ext cx="782848" cy="676135"/>
            </a:xfrm>
            <a:prstGeom prst="roundRect">
              <a:avLst/>
            </a:prstGeom>
            <a:solidFill>
              <a:srgbClr val="FFF1FC"/>
            </a:solidFill>
            <a:ln>
              <a:noFill/>
            </a:ln>
            <a:effectLst>
              <a:glow rad="228600">
                <a:srgbClr val="F967DD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rgbClr val="ED932F"/>
                </a:solidFill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F573B49-1BD1-E936-1F11-D81409DED823}"/>
                </a:ext>
              </a:extLst>
            </p:cNvPr>
            <p:cNvSpPr/>
            <p:nvPr/>
          </p:nvSpPr>
          <p:spPr>
            <a:xfrm>
              <a:off x="9348873" y="9665564"/>
              <a:ext cx="782848" cy="676135"/>
            </a:xfrm>
            <a:prstGeom prst="roundRect">
              <a:avLst/>
            </a:prstGeom>
            <a:solidFill>
              <a:srgbClr val="F3FEFA"/>
            </a:solidFill>
            <a:ln>
              <a:noFill/>
            </a:ln>
            <a:effectLst>
              <a:glow rad="228600">
                <a:srgbClr val="6EF2BD">
                  <a:alpha val="40000"/>
                </a:srgbClr>
              </a:glow>
              <a:outerShdw blurRad="50800" dist="50800" dir="5400000" sx="6000" sy="6000" algn="ctr" rotWithShape="0">
                <a:srgbClr val="000000">
                  <a:alpha val="43137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rgbClr val="ED932F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0F24404-401A-8B5C-1A39-9DF4E22BBE21}"/>
                </a:ext>
              </a:extLst>
            </p:cNvPr>
            <p:cNvSpPr/>
            <p:nvPr/>
          </p:nvSpPr>
          <p:spPr>
            <a:xfrm>
              <a:off x="10807245" y="9811584"/>
              <a:ext cx="623327" cy="404499"/>
            </a:xfrm>
            <a:prstGeom prst="roundRect">
              <a:avLst/>
            </a:prstGeom>
            <a:solidFill>
              <a:srgbClr val="F0F2FE"/>
            </a:solidFill>
            <a:ln>
              <a:noFill/>
            </a:ln>
            <a:effectLst>
              <a:glow rad="228600">
                <a:srgbClr val="A5B3F9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rgbClr val="ED932F"/>
                </a:solidFill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C869EE7-6801-5D37-A5A7-EB98D208E6E5}"/>
                </a:ext>
              </a:extLst>
            </p:cNvPr>
            <p:cNvSpPr/>
            <p:nvPr/>
          </p:nvSpPr>
          <p:spPr>
            <a:xfrm>
              <a:off x="10807245" y="10600176"/>
              <a:ext cx="623327" cy="404499"/>
            </a:xfrm>
            <a:prstGeom prst="roundRect">
              <a:avLst/>
            </a:prstGeom>
            <a:solidFill>
              <a:srgbClr val="EFE6FE"/>
            </a:solidFill>
            <a:ln>
              <a:noFill/>
            </a:ln>
            <a:effectLst>
              <a:glow rad="228600">
                <a:srgbClr val="AC75D5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rgbClr val="ED932F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46D90C8-8F70-1E7D-2168-F27ED5622042}"/>
                </a:ext>
              </a:extLst>
            </p:cNvPr>
            <p:cNvSpPr/>
            <p:nvPr/>
          </p:nvSpPr>
          <p:spPr>
            <a:xfrm>
              <a:off x="10780773" y="9022993"/>
              <a:ext cx="623327" cy="404499"/>
            </a:xfrm>
            <a:prstGeom prst="roundRect">
              <a:avLst/>
            </a:prstGeom>
            <a:solidFill>
              <a:srgbClr val="F0F7EB"/>
            </a:solidFill>
            <a:ln>
              <a:noFill/>
            </a:ln>
            <a:effectLst>
              <a:glow rad="228600">
                <a:schemeClr val="accent6">
                  <a:lumMod val="60000"/>
                  <a:lumOff val="40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rgbClr val="ED932F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468B8BF-1EC4-B260-9950-ADC43C485545}"/>
                </a:ext>
              </a:extLst>
            </p:cNvPr>
            <p:cNvSpPr/>
            <p:nvPr/>
          </p:nvSpPr>
          <p:spPr>
            <a:xfrm>
              <a:off x="8063973" y="9665564"/>
              <a:ext cx="782848" cy="697422"/>
            </a:xfrm>
            <a:prstGeom prst="roundRect">
              <a:avLst/>
            </a:prstGeom>
            <a:solidFill>
              <a:srgbClr val="FFF5EF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rgbClr val="ED932F"/>
                </a:solidFill>
              </a:endParaRPr>
            </a:p>
          </p:txBody>
        </p:sp>
        <p:cxnSp>
          <p:nvCxnSpPr>
            <p:cNvPr id="34" name="Connector: Curved 33">
              <a:extLst>
                <a:ext uri="{FF2B5EF4-FFF2-40B4-BE49-F238E27FC236}">
                  <a16:creationId xmlns:a16="http://schemas.microsoft.com/office/drawing/2014/main" id="{447F56BC-849E-3DF9-9110-BC1CF32B36C7}"/>
                </a:ext>
              </a:extLst>
            </p:cNvPr>
            <p:cNvCxnSpPr>
              <a:cxnSpLocks/>
              <a:stCxn id="27" idx="3"/>
              <a:endCxn id="30" idx="1"/>
            </p:cNvCxnSpPr>
            <p:nvPr/>
          </p:nvCxnSpPr>
          <p:spPr>
            <a:xfrm flipV="1">
              <a:off x="10131720" y="9225242"/>
              <a:ext cx="649053" cy="778389"/>
            </a:xfrm>
            <a:prstGeom prst="curvedConnector3">
              <a:avLst>
                <a:gd name="adj1" fmla="val 50000"/>
              </a:avLst>
            </a:prstGeom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AE1CB4F2-DB41-2CAD-3AE9-D02FA9E235C3}"/>
                </a:ext>
              </a:extLst>
            </p:cNvPr>
            <p:cNvCxnSpPr>
              <a:cxnSpLocks/>
              <a:stCxn id="27" idx="3"/>
              <a:endCxn id="28" idx="1"/>
            </p:cNvCxnSpPr>
            <p:nvPr/>
          </p:nvCxnSpPr>
          <p:spPr>
            <a:xfrm>
              <a:off x="10131720" y="10003631"/>
              <a:ext cx="675525" cy="10204"/>
            </a:xfrm>
            <a:prstGeom prst="curvedConnector3">
              <a:avLst>
                <a:gd name="adj1" fmla="val 50000"/>
              </a:avLst>
            </a:prstGeom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" name="Connector: Curved 35">
              <a:extLst>
                <a:ext uri="{FF2B5EF4-FFF2-40B4-BE49-F238E27FC236}">
                  <a16:creationId xmlns:a16="http://schemas.microsoft.com/office/drawing/2014/main" id="{11EF1BD7-B4FF-E546-3D96-D45E488360DA}"/>
                </a:ext>
              </a:extLst>
            </p:cNvPr>
            <p:cNvCxnSpPr>
              <a:cxnSpLocks/>
              <a:stCxn id="27" idx="3"/>
              <a:endCxn id="29" idx="1"/>
            </p:cNvCxnSpPr>
            <p:nvPr/>
          </p:nvCxnSpPr>
          <p:spPr>
            <a:xfrm>
              <a:off x="10131720" y="10003631"/>
              <a:ext cx="675525" cy="798795"/>
            </a:xfrm>
            <a:prstGeom prst="curvedConnector3">
              <a:avLst>
                <a:gd name="adj1" fmla="val 50000"/>
              </a:avLst>
            </a:prstGeom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B896D65-054E-41C6-FDDC-E54BE09DE53F}"/>
                </a:ext>
              </a:extLst>
            </p:cNvPr>
            <p:cNvSpPr txBox="1"/>
            <p:nvPr/>
          </p:nvSpPr>
          <p:spPr>
            <a:xfrm>
              <a:off x="9543205" y="10451537"/>
              <a:ext cx="691124" cy="294341"/>
            </a:xfrm>
            <a:prstGeom prst="rect">
              <a:avLst/>
            </a:prstGeom>
            <a:solidFill>
              <a:srgbClr val="EDF1FC"/>
            </a:solidFill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rgbClr val="8C57F7"/>
                  </a:solidFill>
                  <a:latin typeface="Arial Black" panose="020B0A04020102020204" pitchFamily="34" charset="0"/>
                </a:rPr>
                <a:t>AI/ML</a:t>
              </a:r>
              <a:endParaRPr lang="en-IN" sz="1050" dirty="0">
                <a:solidFill>
                  <a:srgbClr val="8C57F7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38" name="Picture 37" descr="Collection of HQ Python Logo PNG. | PlusPNG">
              <a:extLst>
                <a:ext uri="{FF2B5EF4-FFF2-40B4-BE49-F238E27FC236}">
                  <a16:creationId xmlns:a16="http://schemas.microsoft.com/office/drawing/2014/main" id="{786598A0-CF5D-7C9A-8D26-DC87A4CEFD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7766" y="9763586"/>
              <a:ext cx="517075" cy="517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4F7B1FC-DEB1-0482-15C4-886DEAAD5867}"/>
                </a:ext>
              </a:extLst>
            </p:cNvPr>
            <p:cNvSpPr txBox="1"/>
            <p:nvPr/>
          </p:nvSpPr>
          <p:spPr>
            <a:xfrm>
              <a:off x="8059307" y="10462893"/>
              <a:ext cx="820980" cy="259712"/>
            </a:xfrm>
            <a:prstGeom prst="rect">
              <a:avLst/>
            </a:prstGeom>
            <a:solidFill>
              <a:srgbClr val="EDF1FC"/>
            </a:solidFill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PYTHON</a:t>
              </a:r>
              <a:endParaRPr lang="en-IN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124BDB0-92BB-D284-AEA2-CDC4EEF74966}"/>
                </a:ext>
              </a:extLst>
            </p:cNvPr>
            <p:cNvSpPr txBox="1"/>
            <p:nvPr/>
          </p:nvSpPr>
          <p:spPr>
            <a:xfrm>
              <a:off x="6847493" y="10451537"/>
              <a:ext cx="873284" cy="277026"/>
            </a:xfrm>
            <a:prstGeom prst="rect">
              <a:avLst/>
            </a:prstGeom>
            <a:solidFill>
              <a:srgbClr val="EDF1FC"/>
            </a:solidFill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rgbClr val="3DAABF"/>
                  </a:solidFill>
                  <a:latin typeface="Arial Black" panose="020B0A04020102020204" pitchFamily="34" charset="0"/>
                </a:rPr>
                <a:t>Fast API</a:t>
              </a:r>
              <a:endParaRPr lang="en-IN" sz="1000" dirty="0">
                <a:solidFill>
                  <a:srgbClr val="3DAABF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41" name="Picture 4">
              <a:extLst>
                <a:ext uri="{FF2B5EF4-FFF2-40B4-BE49-F238E27FC236}">
                  <a16:creationId xmlns:a16="http://schemas.microsoft.com/office/drawing/2014/main" id="{205B4910-BC30-5109-3D65-478584CFA8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40" r="18620"/>
            <a:stretch/>
          </p:blipFill>
          <p:spPr bwMode="auto">
            <a:xfrm>
              <a:off x="10872342" y="8973217"/>
              <a:ext cx="491821" cy="4834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0">
              <a:extLst>
                <a:ext uri="{FF2B5EF4-FFF2-40B4-BE49-F238E27FC236}">
                  <a16:creationId xmlns:a16="http://schemas.microsoft.com/office/drawing/2014/main" id="{AD6580EE-8709-4F50-49F2-02265B8A3E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937251" y="10635489"/>
              <a:ext cx="427444" cy="3338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0F7D169A-20F3-1185-C99E-20FF080F7F78}"/>
                </a:ext>
              </a:extLst>
            </p:cNvPr>
            <p:cNvGrpSpPr/>
            <p:nvPr/>
          </p:nvGrpSpPr>
          <p:grpSpPr>
            <a:xfrm>
              <a:off x="761427" y="10635489"/>
              <a:ext cx="1329583" cy="1618942"/>
              <a:chOff x="449294" y="3113546"/>
              <a:chExt cx="1329583" cy="1618942"/>
            </a:xfrm>
          </p:grpSpPr>
          <p:pic>
            <p:nvPicPr>
              <p:cNvPr id="18" name="Graphic 17">
                <a:extLst>
                  <a:ext uri="{FF2B5EF4-FFF2-40B4-BE49-F238E27FC236}">
                    <a16:creationId xmlns:a16="http://schemas.microsoft.com/office/drawing/2014/main" id="{CED57A18-919F-1030-52CF-C1CA3210CA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57636" y="3113546"/>
                <a:ext cx="1124783" cy="1475424"/>
              </a:xfrm>
              <a:prstGeom prst="rect">
                <a:avLst/>
              </a:prstGeom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8B7161A-AD29-E054-EEFD-EED321E6148C}"/>
                  </a:ext>
                </a:extLst>
              </p:cNvPr>
              <p:cNvSpPr txBox="1"/>
              <p:nvPr/>
            </p:nvSpPr>
            <p:spPr>
              <a:xfrm>
                <a:off x="449294" y="4455462"/>
                <a:ext cx="1329583" cy="277026"/>
              </a:xfrm>
              <a:prstGeom prst="rect">
                <a:avLst/>
              </a:prstGeom>
              <a:solidFill>
                <a:srgbClr val="EDF1FC"/>
              </a:solidFill>
              <a:ln>
                <a:noFill/>
              </a:ln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solidFill>
                      <a:srgbClr val="B18DF9"/>
                    </a:solidFill>
                    <a:latin typeface="Arial Black" panose="020B0A04020102020204" pitchFamily="34" charset="0"/>
                  </a:rPr>
                  <a:t>User Frontend</a:t>
                </a:r>
                <a:endParaRPr lang="en-IN" dirty="0">
                  <a:solidFill>
                    <a:srgbClr val="B18DF9"/>
                  </a:solidFill>
                  <a:latin typeface="Arial Black" panose="020B0A04020102020204" pitchFamily="34" charset="0"/>
                </a:endParaRPr>
              </a:p>
            </p:txBody>
          </p:sp>
        </p:grpSp>
        <p:sp>
          <p:nvSpPr>
            <p:cNvPr id="45" name="Left Brace 44">
              <a:extLst>
                <a:ext uri="{FF2B5EF4-FFF2-40B4-BE49-F238E27FC236}">
                  <a16:creationId xmlns:a16="http://schemas.microsoft.com/office/drawing/2014/main" id="{6F0E5FA7-7C74-DBEF-676A-C65E3AD11650}"/>
                </a:ext>
              </a:extLst>
            </p:cNvPr>
            <p:cNvSpPr/>
            <p:nvPr/>
          </p:nvSpPr>
          <p:spPr>
            <a:xfrm rot="16200000" flipH="1">
              <a:off x="8069995" y="8071840"/>
              <a:ext cx="559027" cy="2593109"/>
            </a:xfrm>
            <a:prstGeom prst="leftBrace">
              <a:avLst>
                <a:gd name="adj1" fmla="val 49560"/>
                <a:gd name="adj2" fmla="val 50754"/>
              </a:avLst>
            </a:prstGeom>
            <a:ln w="9525" cap="flat" cmpd="sng" algn="ctr">
              <a:solidFill>
                <a:srgbClr val="F967DD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7FDC97E-B27F-7555-C8CD-F3AA88AE151F}"/>
                </a:ext>
              </a:extLst>
            </p:cNvPr>
            <p:cNvGrpSpPr/>
            <p:nvPr/>
          </p:nvGrpSpPr>
          <p:grpSpPr>
            <a:xfrm>
              <a:off x="7221271" y="8602010"/>
              <a:ext cx="2256590" cy="486871"/>
              <a:chOff x="5645182" y="1125881"/>
              <a:chExt cx="3457473" cy="745968"/>
            </a:xfrm>
            <a:solidFill>
              <a:srgbClr val="FBF7F9"/>
            </a:solidFill>
          </p:grpSpPr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311322CA-8BBA-F204-806D-23809D8FD572}"/>
                  </a:ext>
                </a:extLst>
              </p:cNvPr>
              <p:cNvSpPr/>
              <p:nvPr/>
            </p:nvSpPr>
            <p:spPr>
              <a:xfrm>
                <a:off x="5645182" y="1125881"/>
                <a:ext cx="3457473" cy="745968"/>
              </a:xfrm>
              <a:prstGeom prst="roundRect">
                <a:avLst>
                  <a:gd name="adj" fmla="val 14488"/>
                </a:avLst>
              </a:prstGeom>
              <a:grpFill/>
              <a:ln>
                <a:noFill/>
              </a:ln>
              <a:effectLst>
                <a:glow rad="228600">
                  <a:srgbClr val="E8CEDD"/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rgbClr val="8C57F7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Backend</a:t>
                </a:r>
                <a:endParaRPr lang="en-IN" sz="3200" b="1" dirty="0">
                  <a:solidFill>
                    <a:srgbClr val="8C57F7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pic>
            <p:nvPicPr>
              <p:cNvPr id="83" name="Picture 2" descr="Ashampoo WinOptimizer 14">
                <a:extLst>
                  <a:ext uri="{FF2B5EF4-FFF2-40B4-BE49-F238E27FC236}">
                    <a16:creationId xmlns:a16="http://schemas.microsoft.com/office/drawing/2014/main" id="{D7DA25E2-CF6E-6823-289B-F67B7B8607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1366" y="1254867"/>
                <a:ext cx="516031" cy="516031"/>
              </a:xfrm>
              <a:prstGeom prst="rect">
                <a:avLst/>
              </a:prstGeom>
              <a:grpFill/>
            </p:spPr>
          </p:pic>
        </p:grpSp>
        <p:pic>
          <p:nvPicPr>
            <p:cNvPr id="47" name="3D Model 139">
              <a:extLst>
                <a:ext uri="{FF2B5EF4-FFF2-40B4-BE49-F238E27FC236}">
                  <a16:creationId xmlns:a16="http://schemas.microsoft.com/office/drawing/2014/main" id="{675AECF6-8D75-3A82-6970-AF86EC30F8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55" t="14045" r="27224" b="40089"/>
            <a:stretch/>
          </p:blipFill>
          <p:spPr>
            <a:xfrm>
              <a:off x="9477863" y="9747956"/>
              <a:ext cx="521881" cy="50905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C1A28765-85E5-5898-F5CA-112A47688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5221" y="9716171"/>
              <a:ext cx="597021" cy="597020"/>
            </a:xfrm>
            <a:prstGeom prst="rect">
              <a:avLst/>
            </a:prstGeom>
          </p:spPr>
        </p:pic>
        <p:cxnSp>
          <p:nvCxnSpPr>
            <p:cNvPr id="49" name="Connector: Curved 48">
              <a:extLst>
                <a:ext uri="{FF2B5EF4-FFF2-40B4-BE49-F238E27FC236}">
                  <a16:creationId xmlns:a16="http://schemas.microsoft.com/office/drawing/2014/main" id="{0002F924-EE82-7A35-01CE-CC6DB19C9E6E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rot="10800000" flipV="1">
              <a:off x="7616343" y="10014274"/>
              <a:ext cx="447629" cy="6028"/>
            </a:xfrm>
            <a:prstGeom prst="curvedConnector3">
              <a:avLst>
                <a:gd name="adj1" fmla="val 50000"/>
              </a:avLst>
            </a:prstGeom>
            <a:ln w="9525" cap="flat" cmpd="sng" algn="ctr">
              <a:solidFill>
                <a:srgbClr val="F967DD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D3D1CBF8-35C3-87F1-9B46-BA4890A9B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948041" y="9844215"/>
              <a:ext cx="366214" cy="366214"/>
            </a:xfrm>
            <a:prstGeom prst="rect">
              <a:avLst/>
            </a:prstGeom>
          </p:spPr>
        </p:pic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11C5FF53-49C8-5E2B-0483-DA75E0B70A84}"/>
                </a:ext>
              </a:extLst>
            </p:cNvPr>
            <p:cNvGrpSpPr/>
            <p:nvPr/>
          </p:nvGrpSpPr>
          <p:grpSpPr>
            <a:xfrm>
              <a:off x="3078067" y="9648792"/>
              <a:ext cx="782848" cy="697422"/>
              <a:chOff x="2264314" y="2650022"/>
              <a:chExt cx="782848" cy="697422"/>
            </a:xfrm>
          </p:grpSpPr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00510E25-1851-4809-6C3D-C0D9BB10B32F}"/>
                  </a:ext>
                </a:extLst>
              </p:cNvPr>
              <p:cNvSpPr/>
              <p:nvPr/>
            </p:nvSpPr>
            <p:spPr>
              <a:xfrm>
                <a:off x="2264314" y="2650022"/>
                <a:ext cx="782848" cy="697422"/>
              </a:xfrm>
              <a:prstGeom prst="roundRect">
                <a:avLst/>
              </a:prstGeom>
              <a:solidFill>
                <a:srgbClr val="FFF5EF"/>
              </a:solidFill>
              <a:ln>
                <a:noFill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solidFill>
                    <a:srgbClr val="ED932F"/>
                  </a:solidFill>
                </a:endParaRPr>
              </a:p>
            </p:txBody>
          </p:sp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1CF04F37-A2EB-D0BE-C769-A8F97BDBF2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96241" y="2752240"/>
                <a:ext cx="492985" cy="492985"/>
              </a:xfrm>
              <a:prstGeom prst="rect">
                <a:avLst/>
              </a:prstGeom>
            </p:spPr>
          </p:pic>
        </p:grpSp>
        <p:cxnSp>
          <p:nvCxnSpPr>
            <p:cNvPr id="89" name="Connector: Elbow 88">
              <a:extLst>
                <a:ext uri="{FF2B5EF4-FFF2-40B4-BE49-F238E27FC236}">
                  <a16:creationId xmlns:a16="http://schemas.microsoft.com/office/drawing/2014/main" id="{7DDE7006-4CA9-544B-522B-079C194F8953}"/>
                </a:ext>
              </a:extLst>
            </p:cNvPr>
            <p:cNvCxnSpPr>
              <a:cxnSpLocks/>
              <a:stCxn id="21" idx="1"/>
              <a:endCxn id="86" idx="3"/>
            </p:cNvCxnSpPr>
            <p:nvPr/>
          </p:nvCxnSpPr>
          <p:spPr>
            <a:xfrm rot="10800000">
              <a:off x="3860916" y="9997504"/>
              <a:ext cx="2971477" cy="6129"/>
            </a:xfrm>
            <a:prstGeom prst="bentConnector3">
              <a:avLst>
                <a:gd name="adj1" fmla="val 50000"/>
              </a:avLst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1EE067B5-126A-6D30-B37E-07E2D46E7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095900" y="9556904"/>
              <a:ext cx="428846" cy="428846"/>
            </a:xfrm>
            <a:prstGeom prst="rect">
              <a:avLst/>
            </a:prstGeom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9500425-B19E-4D94-1583-2C178DCB3475}"/>
                </a:ext>
              </a:extLst>
            </p:cNvPr>
            <p:cNvSpPr txBox="1"/>
            <p:nvPr/>
          </p:nvSpPr>
          <p:spPr>
            <a:xfrm>
              <a:off x="4716437" y="9964104"/>
              <a:ext cx="14076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URL &amp; screenshot</a:t>
              </a:r>
              <a:endParaRPr lang="en-IN" sz="1100" b="1" dirty="0"/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265DF833-D91C-52CF-658C-3CF947812C96}"/>
                </a:ext>
              </a:extLst>
            </p:cNvPr>
            <p:cNvSpPr/>
            <p:nvPr/>
          </p:nvSpPr>
          <p:spPr>
            <a:xfrm>
              <a:off x="7922396" y="11951551"/>
              <a:ext cx="1181785" cy="107451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glow rad="228600">
                <a:srgbClr val="96C3E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rgbClr val="ED932F"/>
                </a:solidFill>
              </a:endParaRP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2DAD2267-2E05-07ED-7D8E-941A4742D34E}"/>
                </a:ext>
              </a:extLst>
            </p:cNvPr>
            <p:cNvGrpSpPr/>
            <p:nvPr/>
          </p:nvGrpSpPr>
          <p:grpSpPr>
            <a:xfrm>
              <a:off x="7989456" y="11961720"/>
              <a:ext cx="1050850" cy="988565"/>
              <a:chOff x="7189443" y="4557555"/>
              <a:chExt cx="1502257" cy="1575759"/>
            </a:xfrm>
          </p:grpSpPr>
          <p:pic>
            <p:nvPicPr>
              <p:cNvPr id="97" name="Picture 96">
                <a:extLst>
                  <a:ext uri="{FF2B5EF4-FFF2-40B4-BE49-F238E27FC236}">
                    <a16:creationId xmlns:a16="http://schemas.microsoft.com/office/drawing/2014/main" id="{BE1840CC-4914-4708-374D-80ED4D6E91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 l="29257" r="2002" b="6803"/>
              <a:stretch>
                <a:fillRect/>
              </a:stretch>
            </p:blipFill>
            <p:spPr>
              <a:xfrm>
                <a:off x="7189443" y="5376862"/>
                <a:ext cx="1502257" cy="756452"/>
              </a:xfrm>
              <a:prstGeom prst="rect">
                <a:avLst/>
              </a:prstGeom>
            </p:spPr>
          </p:pic>
          <p:pic>
            <p:nvPicPr>
              <p:cNvPr id="98" name="Picture 97">
                <a:extLst>
                  <a:ext uri="{FF2B5EF4-FFF2-40B4-BE49-F238E27FC236}">
                    <a16:creationId xmlns:a16="http://schemas.microsoft.com/office/drawing/2014/main" id="{34C05855-CF42-62D8-C8F7-ABD2F494EB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 r="72740" b="13101"/>
              <a:stretch>
                <a:fillRect/>
              </a:stretch>
            </p:blipFill>
            <p:spPr>
              <a:xfrm>
                <a:off x="7482094" y="4557555"/>
                <a:ext cx="840103" cy="841120"/>
              </a:xfrm>
              <a:prstGeom prst="rect">
                <a:avLst/>
              </a:prstGeom>
            </p:spPr>
          </p:pic>
        </p:grp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A21BB4A8-9E41-DCFB-C0DE-63DA6EF25782}"/>
                </a:ext>
              </a:extLst>
            </p:cNvPr>
            <p:cNvCxnSpPr>
              <a:cxnSpLocks/>
              <a:stCxn id="39" idx="2"/>
            </p:cNvCxnSpPr>
            <p:nvPr/>
          </p:nvCxnSpPr>
          <p:spPr>
            <a:xfrm>
              <a:off x="8469797" y="10722605"/>
              <a:ext cx="18205" cy="1239115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4" name="Connector: Elbow 103">
              <a:extLst>
                <a:ext uri="{FF2B5EF4-FFF2-40B4-BE49-F238E27FC236}">
                  <a16:creationId xmlns:a16="http://schemas.microsoft.com/office/drawing/2014/main" id="{15346B36-67E6-5D8D-4E1D-6FB4E9EA2A8F}"/>
                </a:ext>
              </a:extLst>
            </p:cNvPr>
            <p:cNvCxnSpPr>
              <a:cxnSpLocks/>
              <a:stCxn id="21" idx="1"/>
            </p:cNvCxnSpPr>
            <p:nvPr/>
          </p:nvCxnSpPr>
          <p:spPr>
            <a:xfrm rot="10800000" flipV="1">
              <a:off x="3860918" y="10003631"/>
              <a:ext cx="2971474" cy="1227669"/>
            </a:xfrm>
            <a:prstGeom prst="bentConnector3">
              <a:avLst>
                <a:gd name="adj1" fmla="val 14943"/>
              </a:avLst>
            </a:prstGeom>
            <a:ln w="9525" cap="flat" cmpd="sng" algn="ctr">
              <a:solidFill>
                <a:schemeClr val="accent6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5E5DAD27-E587-3471-0A9E-24D1A0324463}"/>
                </a:ext>
              </a:extLst>
            </p:cNvPr>
            <p:cNvSpPr/>
            <p:nvPr/>
          </p:nvSpPr>
          <p:spPr>
            <a:xfrm>
              <a:off x="3061561" y="10882590"/>
              <a:ext cx="782848" cy="69742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glow rad="228600">
                <a:srgbClr val="00B050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rgbClr val="ED932F"/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3B8E880-CE00-9922-9438-D01425503528}"/>
                </a:ext>
              </a:extLst>
            </p:cNvPr>
            <p:cNvSpPr txBox="1"/>
            <p:nvPr/>
          </p:nvSpPr>
          <p:spPr>
            <a:xfrm>
              <a:off x="4952186" y="10991197"/>
              <a:ext cx="12223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Safe</a:t>
              </a:r>
              <a:endParaRPr lang="en-IN" sz="1600" b="1" dirty="0"/>
            </a:p>
          </p:txBody>
        </p:sp>
        <p:pic>
          <p:nvPicPr>
            <p:cNvPr id="112" name="Graphic 111">
              <a:extLst>
                <a:ext uri="{FF2B5EF4-FFF2-40B4-BE49-F238E27FC236}">
                  <a16:creationId xmlns:a16="http://schemas.microsoft.com/office/drawing/2014/main" id="{7EA9D476-CAA0-ECD0-E2F0-CBDB6667A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flipH="1">
              <a:off x="3084755" y="10876283"/>
              <a:ext cx="697422" cy="697422"/>
            </a:xfrm>
            <a:prstGeom prst="rect">
              <a:avLst/>
            </a:prstGeom>
          </p:spPr>
        </p:pic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F61D52DA-685D-91B0-1AA1-33FBE1EBDE1E}"/>
                </a:ext>
              </a:extLst>
            </p:cNvPr>
            <p:cNvSpPr/>
            <p:nvPr/>
          </p:nvSpPr>
          <p:spPr>
            <a:xfrm>
              <a:off x="3123793" y="12334955"/>
              <a:ext cx="782848" cy="697422"/>
            </a:xfrm>
            <a:prstGeom prst="roundRect">
              <a:avLst/>
            </a:prstGeom>
            <a:solidFill>
              <a:srgbClr val="FED3CC"/>
            </a:solidFill>
            <a:ln>
              <a:noFill/>
            </a:ln>
            <a:effectLst>
              <a:glow rad="228600">
                <a:srgbClr val="FF0000">
                  <a:alpha val="40000"/>
                </a:srgbClr>
              </a:glow>
              <a:softEdge rad="254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rgbClr val="ED932F"/>
                </a:solidFill>
              </a:endParaRPr>
            </a:p>
          </p:txBody>
        </p:sp>
        <p:pic>
          <p:nvPicPr>
            <p:cNvPr id="116" name="Graphic 115">
              <a:extLst>
                <a:ext uri="{FF2B5EF4-FFF2-40B4-BE49-F238E27FC236}">
                  <a16:creationId xmlns:a16="http://schemas.microsoft.com/office/drawing/2014/main" id="{7D16FDB2-5A42-7BE0-0029-889B0D924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flipH="1">
              <a:off x="3190131" y="12328648"/>
              <a:ext cx="670622" cy="670622"/>
            </a:xfrm>
            <a:prstGeom prst="rect">
              <a:avLst/>
            </a:prstGeom>
          </p:spPr>
        </p:pic>
        <p:cxnSp>
          <p:nvCxnSpPr>
            <p:cNvPr id="117" name="Connector: Elbow 116">
              <a:extLst>
                <a:ext uri="{FF2B5EF4-FFF2-40B4-BE49-F238E27FC236}">
                  <a16:creationId xmlns:a16="http://schemas.microsoft.com/office/drawing/2014/main" id="{90AEA045-5F49-CDE0-4BBA-CDE33549A2CB}"/>
                </a:ext>
              </a:extLst>
            </p:cNvPr>
            <p:cNvCxnSpPr>
              <a:cxnSpLocks/>
              <a:stCxn id="21" idx="1"/>
              <a:endCxn id="113" idx="3"/>
            </p:cNvCxnSpPr>
            <p:nvPr/>
          </p:nvCxnSpPr>
          <p:spPr>
            <a:xfrm rot="10800000" flipV="1">
              <a:off x="3906642" y="10003632"/>
              <a:ext cx="2925751" cy="2680034"/>
            </a:xfrm>
            <a:prstGeom prst="bentConnector3">
              <a:avLst>
                <a:gd name="adj1" fmla="val 15186"/>
              </a:avLst>
            </a:prstGeom>
            <a:ln w="9525" cap="flat" cmpd="sng" algn="ctr">
              <a:solidFill>
                <a:srgbClr val="FF0000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08B178D-B007-08D3-3848-067576F8F121}"/>
                </a:ext>
              </a:extLst>
            </p:cNvPr>
            <p:cNvSpPr txBox="1"/>
            <p:nvPr/>
          </p:nvSpPr>
          <p:spPr>
            <a:xfrm>
              <a:off x="4742660" y="12417114"/>
              <a:ext cx="12223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Suspicious</a:t>
              </a:r>
              <a:endParaRPr lang="en-IN" sz="1600" b="1" dirty="0"/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C17AA48-6E35-E526-39C4-14A84535CE4B}"/>
              </a:ext>
            </a:extLst>
          </p:cNvPr>
          <p:cNvSpPr/>
          <p:nvPr/>
        </p:nvSpPr>
        <p:spPr>
          <a:xfrm>
            <a:off x="535004" y="269527"/>
            <a:ext cx="3167975" cy="11293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4925">
            <a:solidFill>
              <a:schemeClr val="accent5">
                <a:lumMod val="20000"/>
                <a:lumOff val="80000"/>
              </a:schemeClr>
            </a:solidFill>
          </a:ln>
          <a:effectLst>
            <a:glow rad="342900">
              <a:srgbClr val="040437">
                <a:alpha val="40000"/>
              </a:srgbClr>
            </a:glow>
            <a:reflection blurRad="88900" stA="45000"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040437"/>
                </a:solidFill>
                <a:latin typeface="Arial Rounded MT Bold" panose="020F0704030504030204" pitchFamily="34" charset="0"/>
              </a:rPr>
              <a:t>Tech Stack</a:t>
            </a:r>
            <a:endParaRPr lang="en-IN" sz="3600" dirty="0">
              <a:solidFill>
                <a:srgbClr val="040437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BCB1CF6-CBEF-06D9-7939-4DA7FB660A69}"/>
              </a:ext>
            </a:extLst>
          </p:cNvPr>
          <p:cNvSpPr/>
          <p:nvPr/>
        </p:nvSpPr>
        <p:spPr>
          <a:xfrm>
            <a:off x="4242979" y="269527"/>
            <a:ext cx="7378003" cy="4754904"/>
          </a:xfrm>
          <a:prstGeom prst="roundRect">
            <a:avLst>
              <a:gd name="adj" fmla="val 8303"/>
            </a:avLst>
          </a:prstGeom>
          <a:solidFill>
            <a:srgbClr val="FFF1FC"/>
          </a:solidFill>
          <a:ln>
            <a:noFill/>
          </a:ln>
          <a:effectLst>
            <a:glow rad="228600">
              <a:srgbClr val="F967DD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/>
              <a:t> Scikit-learn </a:t>
            </a:r>
            <a:endParaRPr lang="en-IN" sz="2000" dirty="0">
              <a:solidFill>
                <a:srgbClr val="ED932F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4FB386D-6185-CF08-0D8C-B18CB3B81EC9}"/>
              </a:ext>
            </a:extLst>
          </p:cNvPr>
          <p:cNvSpPr/>
          <p:nvPr/>
        </p:nvSpPr>
        <p:spPr>
          <a:xfrm>
            <a:off x="565485" y="1788509"/>
            <a:ext cx="3112009" cy="3235922"/>
          </a:xfrm>
          <a:prstGeom prst="roundRect">
            <a:avLst>
              <a:gd name="adj" fmla="val 8303"/>
            </a:avLst>
          </a:prstGeom>
          <a:solidFill>
            <a:srgbClr val="FFF1FC"/>
          </a:solidFill>
          <a:ln>
            <a:noFill/>
          </a:ln>
          <a:effectLst>
            <a:glow rad="228600">
              <a:srgbClr val="F967DD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rgbClr val="ED932F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69D13D1-27C5-7063-7DB5-D5D334E6337A}"/>
              </a:ext>
            </a:extLst>
          </p:cNvPr>
          <p:cNvSpPr/>
          <p:nvPr/>
        </p:nvSpPr>
        <p:spPr>
          <a:xfrm>
            <a:off x="535004" y="5262456"/>
            <a:ext cx="11085978" cy="1455892"/>
          </a:xfrm>
          <a:prstGeom prst="roundRect">
            <a:avLst>
              <a:gd name="adj" fmla="val 8303"/>
            </a:avLst>
          </a:prstGeom>
          <a:solidFill>
            <a:srgbClr val="FFF1FC"/>
          </a:solidFill>
          <a:ln>
            <a:noFill/>
          </a:ln>
          <a:effectLst>
            <a:glow rad="228600">
              <a:srgbClr val="F967DD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rgbClr val="ED932F"/>
              </a:solidFill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4EAE2F41-6AF6-995F-E9E7-711188337B0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02165" y="3387592"/>
            <a:ext cx="1167326" cy="116732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2F0BC11D-5DEE-592F-B63B-EC710F7DC47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9769" y="2294873"/>
            <a:ext cx="780384" cy="78038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7EAF944-98E2-6C62-DB65-90EEC04BE46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45183" y="2325476"/>
            <a:ext cx="712733" cy="712733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42EB196B-69B9-0E0C-B7F6-02AE4DCE503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54437" y="2427557"/>
            <a:ext cx="675191" cy="6751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5FF04432-44EC-C2BA-C879-DA5170BC0B62}"/>
              </a:ext>
            </a:extLst>
          </p:cNvPr>
          <p:cNvSpPr txBox="1"/>
          <p:nvPr/>
        </p:nvSpPr>
        <p:spPr>
          <a:xfrm>
            <a:off x="1571072" y="2147767"/>
            <a:ext cx="1331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Tailwind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1D07971A-BB1D-3806-6DC3-7992D1F02C5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1436" y="3818196"/>
            <a:ext cx="1260054" cy="126005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91A1D55-E422-06F7-E087-D1F49E90C8E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10605" y="3463725"/>
            <a:ext cx="712732" cy="71273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4C6CE18F-C405-EA36-4959-AFC322682D7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64196" y="1731838"/>
            <a:ext cx="2086358" cy="2086358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B83C91D3-2B1E-888C-DF31-69BA67DD89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546" y="2255705"/>
            <a:ext cx="1427654" cy="1427652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914F9156-8119-A30E-02D7-9ED8F4698E89}"/>
              </a:ext>
            </a:extLst>
          </p:cNvPr>
          <p:cNvGrpSpPr/>
          <p:nvPr/>
        </p:nvGrpSpPr>
        <p:grpSpPr>
          <a:xfrm>
            <a:off x="4234834" y="781002"/>
            <a:ext cx="2446842" cy="1524850"/>
            <a:chOff x="6022955" y="1904150"/>
            <a:chExt cx="2691886" cy="1730723"/>
          </a:xfrm>
        </p:grpSpPr>
        <p:pic>
          <p:nvPicPr>
            <p:cNvPr id="1028" name="Picture 4" descr="Google TensorFlow Icon SVG Vector &amp; PNG Free Download | UXWing">
              <a:extLst>
                <a:ext uri="{FF2B5EF4-FFF2-40B4-BE49-F238E27FC236}">
                  <a16:creationId xmlns:a16="http://schemas.microsoft.com/office/drawing/2014/main" id="{ECEED481-46BB-E156-54C1-54ECE09E15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8565" y="1904150"/>
              <a:ext cx="1181091" cy="1181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A8E69DD9-9699-AEFE-04B3-E04C20EF3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BEBA8EAE-BF5A-486C-A8C5-ECC9F3942E4B}">
                  <a14:imgProps xmlns:a14="http://schemas.microsoft.com/office/drawing/2010/main">
                    <a14:imgLayer r:embed="rId27">
                      <a14:imgEffect>
                        <a14:backgroundRemoval t="9341" b="89011" l="6808" r="97882">
                          <a14:foregroundMark x1="11195" y1="40659" x2="11195" y2="40659"/>
                          <a14:foregroundMark x1="7110" y1="37912" x2="7110" y2="37912"/>
                          <a14:foregroundMark x1="29198" y1="51648" x2="29198" y2="51648"/>
                          <a14:foregroundMark x1="36460" y1="50549" x2="36460" y2="50549"/>
                          <a14:foregroundMark x1="50378" y1="48352" x2="50378" y2="48352"/>
                          <a14:foregroundMark x1="55371" y1="58242" x2="55371" y2="58242"/>
                          <a14:foregroundMark x1="62481" y1="53297" x2="62481" y2="53297"/>
                          <a14:foregroundMark x1="73222" y1="58242" x2="73222" y2="58242"/>
                          <a14:foregroundMark x1="85023" y1="65385" x2="85023" y2="65385"/>
                          <a14:foregroundMark x1="88048" y1="63736" x2="88048" y2="63736"/>
                          <a14:foregroundMark x1="93949" y1="60440" x2="93949" y2="60440"/>
                          <a14:foregroundMark x1="97882" y1="58791" x2="97882" y2="5879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022955" y="2893688"/>
              <a:ext cx="2691886" cy="741185"/>
            </a:xfrm>
            <a:prstGeom prst="rect">
              <a:avLst/>
            </a:prstGeom>
          </p:spPr>
        </p:pic>
      </p:grpSp>
      <p:pic>
        <p:nvPicPr>
          <p:cNvPr id="1032" name="Picture 8" descr="Tnt - Pytorch Machine Learning Logo - Free Transparent PNG Clipart ...">
            <a:extLst>
              <a:ext uri="{FF2B5EF4-FFF2-40B4-BE49-F238E27FC236}">
                <a16:creationId xmlns:a16="http://schemas.microsoft.com/office/drawing/2014/main" id="{103971C2-F778-7EDF-0C54-A49E0D196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9091" b="92823" l="4167" r="96786">
                        <a14:foregroundMark x1="49643" y1="26794" x2="49643" y2="26794"/>
                        <a14:foregroundMark x1="49762" y1="25837" x2="49762" y2="25837"/>
                        <a14:foregroundMark x1="49881" y1="22488" x2="49881" y2="22488"/>
                        <a14:foregroundMark x1="46905" y1="92823" x2="46905" y2="92823"/>
                        <a14:foregroundMark x1="63929" y1="74641" x2="63929" y2="74641"/>
                        <a14:foregroundMark x1="66310" y1="68421" x2="66310" y2="68421"/>
                        <a14:foregroundMark x1="65833" y1="63158" x2="64048" y2="55024"/>
                        <a14:foregroundMark x1="72857" y1="65072" x2="75595" y2="55502"/>
                        <a14:foregroundMark x1="88571" y1="59330" x2="87619" y2="79426"/>
                        <a14:foregroundMark x1="96786" y1="64593" x2="96429" y2="78947"/>
                        <a14:foregroundMark x1="79881" y1="54545" x2="79881" y2="54545"/>
                        <a14:foregroundMark x1="74881" y1="87081" x2="74881" y2="87081"/>
                        <a14:foregroundMark x1="74524" y1="79426" x2="74524" y2="79426"/>
                        <a14:foregroundMark x1="80238" y1="88038" x2="80238" y2="88038"/>
                        <a14:foregroundMark x1="60714" y1="54545" x2="60714" y2="54545"/>
                        <a14:foregroundMark x1="59643" y1="53110" x2="59643" y2="53110"/>
                        <a14:foregroundMark x1="59643" y1="63636" x2="59643" y2="63636"/>
                        <a14:foregroundMark x1="34405" y1="53110" x2="34405" y2="53110"/>
                        <a14:foregroundMark x1="33452" y1="54545" x2="33452" y2="54545"/>
                        <a14:foregroundMark x1="31190" y1="53110" x2="31548" y2="53110"/>
                        <a14:foregroundMark x1="33214" y1="59809" x2="34167" y2="70335"/>
                        <a14:foregroundMark x1="17262" y1="55024" x2="17262" y2="55024"/>
                        <a14:foregroundMark x1="21071" y1="81340" x2="21071" y2="81340"/>
                        <a14:foregroundMark x1="25000" y1="54545" x2="25000" y2="54545"/>
                        <a14:foregroundMark x1="23810" y1="54067" x2="23810" y2="54067"/>
                        <a14:foregroundMark x1="22262" y1="68900" x2="22262" y2="68900"/>
                        <a14:foregroundMark x1="21429" y1="74163" x2="21429" y2="74163"/>
                        <a14:foregroundMark x1="9524" y1="60287" x2="9524" y2="60287"/>
                        <a14:foregroundMark x1="7262" y1="57895" x2="7262" y2="57895"/>
                        <a14:foregroundMark x1="4643" y1="49761" x2="4643" y2="49761"/>
                        <a14:foregroundMark x1="4643" y1="49761" x2="4643" y2="49761"/>
                        <a14:foregroundMark x1="4167" y1="57416" x2="4167" y2="57416"/>
                        <a14:foregroundMark x1="4167" y1="66029" x2="4167" y2="660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860" y="743914"/>
            <a:ext cx="3146943" cy="78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e the source image">
            <a:extLst>
              <a:ext uri="{FF2B5EF4-FFF2-40B4-BE49-F238E27FC236}">
                <a16:creationId xmlns:a16="http://schemas.microsoft.com/office/drawing/2014/main" id="{010D9DFF-6359-E0D5-EAB5-3B0EF7D09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10000" b="90000" l="10000" r="90000">
                        <a14:foregroundMark x1="32000" y1="53000" x2="32000" y2="53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958" y="113992"/>
            <a:ext cx="3975094" cy="3975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4">
            <a:extLst>
              <a:ext uri="{FF2B5EF4-FFF2-40B4-BE49-F238E27FC236}">
                <a16:creationId xmlns:a16="http://schemas.microsoft.com/office/drawing/2014/main" id="{6E4883BB-C354-78B4-6B57-62C5F36E46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0" r="18620"/>
          <a:stretch/>
        </p:blipFill>
        <p:spPr bwMode="auto">
          <a:xfrm>
            <a:off x="9153565" y="2962018"/>
            <a:ext cx="1723129" cy="169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2597A36B-1D0F-9002-0C84-BF6CCAEACB1C}"/>
              </a:ext>
            </a:extLst>
          </p:cNvPr>
          <p:cNvGrpSpPr/>
          <p:nvPr/>
        </p:nvGrpSpPr>
        <p:grpSpPr>
          <a:xfrm>
            <a:off x="5494483" y="3623179"/>
            <a:ext cx="1050850" cy="988565"/>
            <a:chOff x="7189443" y="4557555"/>
            <a:chExt cx="1502257" cy="1575759"/>
          </a:xfrm>
        </p:grpSpPr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11FA693-89CD-0F90-B980-C18F04C19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BEBA8EAE-BF5A-486C-A8C5-ECC9F3942E4B}">
                  <a14:imgProps xmlns:a14="http://schemas.microsoft.com/office/drawing/2010/main">
                    <a14:imgLayer r:embed="rId33">
                      <a14:imgEffect>
                        <a14:backgroundRemoval t="9127" b="85119" l="34930" r="96463">
                          <a14:foregroundMark x1="34930" y1="23810" x2="34930" y2="23810"/>
                          <a14:foregroundMark x1="74429" y1="36111" x2="74429" y2="36111"/>
                          <a14:foregroundMark x1="91673" y1="34325" x2="91673" y2="34325"/>
                          <a14:foregroundMark x1="96536" y1="50000" x2="96536" y2="50000"/>
                          <a14:foregroundMark x1="84083" y1="85119" x2="84083" y2="85119"/>
                          <a14:foregroundMark x1="57111" y1="33532" x2="57111" y2="33532"/>
                        </a14:backgroundRemoval>
                      </a14:imgEffect>
                    </a14:imgLayer>
                  </a14:imgProps>
                </a:ext>
              </a:extLst>
            </a:blip>
            <a:srcRect l="29257" r="2002" b="6803"/>
            <a:stretch>
              <a:fillRect/>
            </a:stretch>
          </p:blipFill>
          <p:spPr>
            <a:xfrm>
              <a:off x="7189443" y="5376862"/>
              <a:ext cx="1502257" cy="756452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FB09C0F-66A8-E82A-55FD-546855075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BEBA8EAE-BF5A-486C-A8C5-ECC9F3942E4B}">
                  <a14:imgProps xmlns:a14="http://schemas.microsoft.com/office/drawing/2010/main">
                    <a14:imgLayer r:embed="rId33">
                      <a14:imgEffect>
                        <a14:backgroundRemoval t="8532" b="83532" l="2653" r="25203">
                          <a14:foregroundMark x1="9506" y1="38690" x2="9506" y2="38690"/>
                          <a14:foregroundMark x1="4716" y1="37103" x2="4716" y2="37103"/>
                          <a14:foregroundMark x1="4937" y1="70040" x2="4937" y2="70040"/>
                          <a14:foregroundMark x1="10538" y1="69444" x2="10538" y2="69444"/>
                          <a14:foregroundMark x1="25203" y1="58135" x2="25203" y2="58135"/>
                          <a14:foregroundMark x1="25203" y1="29960" x2="25203" y2="29960"/>
                          <a14:foregroundMark x1="20192" y1="22619" x2="20192" y2="22619"/>
                          <a14:foregroundMark x1="15696" y1="24008" x2="15696" y2="24008"/>
                          <a14:foregroundMark x1="14886" y1="65079" x2="14886" y2="65079"/>
                          <a14:foregroundMark x1="24613" y1="63690" x2="24613" y2="63690"/>
                          <a14:foregroundMark x1="24171" y1="52778" x2="24171" y2="65278"/>
                          <a14:foregroundMark x1="19676" y1="23413" x2="18128" y2="31746"/>
                          <a14:foregroundMark x1="5380" y1="65079" x2="5380" y2="65079"/>
                          <a14:foregroundMark x1="4864" y1="64087" x2="5158" y2="66071"/>
                          <a14:foregroundMark x1="10612" y1="67857" x2="10464" y2="73214"/>
                          <a14:foregroundMark x1="14591" y1="83532" x2="14591" y2="83532"/>
                        </a14:backgroundRemoval>
                      </a14:imgEffect>
                    </a14:imgLayer>
                  </a14:imgProps>
                </a:ext>
              </a:extLst>
            </a:blip>
            <a:srcRect r="72740" b="13101"/>
            <a:stretch>
              <a:fillRect/>
            </a:stretch>
          </p:blipFill>
          <p:spPr>
            <a:xfrm>
              <a:off x="7482094" y="4557555"/>
              <a:ext cx="840103" cy="841120"/>
            </a:xfrm>
            <a:prstGeom prst="rect">
              <a:avLst/>
            </a:prstGeom>
          </p:spPr>
        </p:pic>
      </p:grpSp>
      <p:pic>
        <p:nvPicPr>
          <p:cNvPr id="76" name="Picture 75">
            <a:extLst>
              <a:ext uri="{FF2B5EF4-FFF2-40B4-BE49-F238E27FC236}">
                <a16:creationId xmlns:a16="http://schemas.microsoft.com/office/drawing/2014/main" id="{6B8CD3A4-99CE-CF8E-D7D8-973D4BBA78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1926" y="3928790"/>
            <a:ext cx="1287366" cy="1014485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DF7C0190-A0E9-7064-7738-D785811A66EB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54779" y="5339527"/>
            <a:ext cx="1263059" cy="1263059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3FDC7560-9BDA-6BEF-F553-9A87189C9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backgroundRemoval t="7143" b="91812" l="6146" r="93542">
                        <a14:foregroundMark x1="27500" y1="45122" x2="27500" y2="45122"/>
                        <a14:foregroundMark x1="28438" y1="84321" x2="28438" y2="84321"/>
                        <a14:foregroundMark x1="44063" y1="91463" x2="48646" y2="92160"/>
                        <a14:foregroundMark x1="10417" y1="71254" x2="6146" y2="66725"/>
                        <a14:foregroundMark x1="85625" y1="64286" x2="93021" y2="66028"/>
                        <a14:foregroundMark x1="93021" y1="66028" x2="93542" y2="74913"/>
                        <a14:foregroundMark x1="50208" y1="13589" x2="46146" y2="28746"/>
                        <a14:foregroundMark x1="49583" y1="13763" x2="54271" y2="17596"/>
                        <a14:foregroundMark x1="54271" y1="17596" x2="57083" y2="40070"/>
                        <a14:foregroundMark x1="57083" y1="40070" x2="57917" y2="42509"/>
                        <a14:foregroundMark x1="61354" y1="35889" x2="67292" y2="16376"/>
                        <a14:foregroundMark x1="67292" y1="16376" x2="67396" y2="15157"/>
                        <a14:foregroundMark x1="45729" y1="38153" x2="45729" y2="38153"/>
                        <a14:foregroundMark x1="40417" y1="41115" x2="40417" y2="41115"/>
                        <a14:foregroundMark x1="36250" y1="8537" x2="38646" y2="23345"/>
                        <a14:foregroundMark x1="51667" y1="7143" x2="51146" y2="7143"/>
                        <a14:foregroundMark x1="66354" y1="7317" x2="68646" y2="7143"/>
                        <a14:foregroundMark x1="77396" y1="12544" x2="74792" y2="24913"/>
                        <a14:foregroundMark x1="74792" y1="24913" x2="76042" y2="26829"/>
                        <a14:foregroundMark x1="87917" y1="64111" x2="82396" y2="63066"/>
                        <a14:foregroundMark x1="82396" y1="63066" x2="82292" y2="62892"/>
                        <a14:foregroundMark x1="73229" y1="82404" x2="52812" y2="89547"/>
                        <a14:foregroundMark x1="76250" y1="83624" x2="83438" y2="78920"/>
                        <a14:foregroundMark x1="42396" y1="88676" x2="16667" y2="83624"/>
                        <a14:foregroundMark x1="16667" y1="83624" x2="16667" y2="834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161" y="5432184"/>
            <a:ext cx="1848365" cy="110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icrosoft Azure Logo Vector">
            <a:extLst>
              <a:ext uri="{FF2B5EF4-FFF2-40B4-BE49-F238E27FC236}">
                <a16:creationId xmlns:a16="http://schemas.microsoft.com/office/drawing/2014/main" id="{878A8FBF-F7DD-E7E0-22E5-8FDFF3CF1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7167" r="95833">
                        <a14:foregroundMark x1="9083" y1="44500" x2="7167" y2="57667"/>
                        <a14:foregroundMark x1="21083" y1="44833" x2="22083" y2="44667"/>
                        <a14:foregroundMark x1="31083" y1="48667" x2="31250" y2="52167"/>
                        <a14:foregroundMark x1="31083" y1="43333" x2="31083" y2="43333"/>
                        <a14:foregroundMark x1="34917" y1="48167" x2="33417" y2="49167"/>
                        <a14:foregroundMark x1="41083" y1="47667" x2="41083" y2="47667"/>
                        <a14:foregroundMark x1="46083" y1="47833" x2="46083" y2="47833"/>
                        <a14:foregroundMark x1="49917" y1="48167" x2="49917" y2="48167"/>
                        <a14:foregroundMark x1="54000" y1="48500" x2="54000" y2="48500"/>
                        <a14:foregroundMark x1="61667" y1="46833" x2="61667" y2="46833"/>
                        <a14:foregroundMark x1="72917" y1="46667" x2="72917" y2="46667"/>
                        <a14:foregroundMark x1="78917" y1="48167" x2="78917" y2="48167"/>
                        <a14:foregroundMark x1="83333" y1="55833" x2="83333" y2="55833"/>
                        <a14:foregroundMark x1="89250" y1="49000" x2="89250" y2="49000"/>
                        <a14:foregroundMark x1="92167" y1="52833" x2="92167" y2="52833"/>
                        <a14:foregroundMark x1="95833" y1="49000" x2="95833" y2="49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018" y="4986940"/>
            <a:ext cx="3507023" cy="175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1E9E1ECD-C5C9-A84A-EBE7-BA0BCAA97386}"/>
              </a:ext>
            </a:extLst>
          </p:cNvPr>
          <p:cNvSpPr txBox="1"/>
          <p:nvPr/>
        </p:nvSpPr>
        <p:spPr>
          <a:xfrm>
            <a:off x="5167100" y="5625470"/>
            <a:ext cx="709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or</a:t>
            </a:r>
            <a:endParaRPr lang="en-IN" b="1" dirty="0"/>
          </a:p>
        </p:txBody>
      </p:sp>
      <p:sp>
        <p:nvSpPr>
          <p:cNvPr id="79" name="AutoShape 16" descr="JWT Logo PNG Vector (SVG) Free Download">
            <a:extLst>
              <a:ext uri="{FF2B5EF4-FFF2-40B4-BE49-F238E27FC236}">
                <a16:creationId xmlns:a16="http://schemas.microsoft.com/office/drawing/2014/main" id="{0A46E642-C264-7E64-105B-9ACD7F0941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E3B8C01D-CBB4-0C12-AC49-44FBC47E412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10000" b="90000" l="6167" r="93000">
                        <a14:foregroundMark x1="23333" y1="43333" x2="23333" y2="43333"/>
                        <a14:foregroundMark x1="28667" y1="47667" x2="28667" y2="47667"/>
                        <a14:foregroundMark x1="28333" y1="52000" x2="28333" y2="52000"/>
                        <a14:foregroundMark x1="25833" y1="58500" x2="25833" y2="58500"/>
                        <a14:foregroundMark x1="13500" y1="56333" x2="13500" y2="56333"/>
                        <a14:foregroundMark x1="6333" y1="47167" x2="6333" y2="47167"/>
                        <a14:foregroundMark x1="59500" y1="49333" x2="59500" y2="49333"/>
                        <a14:foregroundMark x1="50000" y1="47000" x2="50000" y2="47000"/>
                        <a14:foregroundMark x1="51000" y1="47167" x2="51000" y2="50333"/>
                        <a14:foregroundMark x1="59500" y1="45833" x2="59833" y2="49167"/>
                        <a14:foregroundMark x1="66667" y1="44333" x2="66333" y2="48500"/>
                        <a14:foregroundMark x1="71500" y1="45333" x2="72500" y2="49167"/>
                        <a14:foregroundMark x1="78667" y1="52333" x2="78667" y2="51500"/>
                        <a14:foregroundMark x1="87667" y1="43000" x2="93000" y2="43667"/>
                        <a14:foregroundMark x1="88833" y1="44500" x2="90167" y2="50833"/>
                        <a14:foregroundMark x1="89333" y1="51000" x2="90333" y2="57667"/>
                        <a14:foregroundMark x1="78333" y1="48167" x2="78333" y2="48167"/>
                        <a14:foregroundMark x1="78333" y1="48167" x2="78333" y2="52333"/>
                        <a14:foregroundMark x1="50667" y1="45500" x2="50667" y2="45500"/>
                        <a14:foregroundMark x1="50667" y1="52167" x2="50667" y2="52167"/>
                        <a14:foregroundMark x1="50000" y1="56000" x2="50000" y2="56000"/>
                        <a14:foregroundMark x1="48333" y1="56000" x2="48333" y2="56000"/>
                        <a14:foregroundMark x1="59167" y1="51500" x2="59167" y2="51500"/>
                        <a14:foregroundMark x1="60333" y1="55500" x2="60333" y2="55500"/>
                        <a14:foregroundMark x1="65333" y1="54000" x2="65333" y2="54000"/>
                        <a14:foregroundMark x1="63000" y1="56833" x2="63000" y2="56833"/>
                        <a14:foregroundMark x1="66000" y1="51500" x2="66000" y2="51500"/>
                        <a14:foregroundMark x1="69500" y1="43333" x2="69500" y2="43333"/>
                        <a14:foregroundMark x1="71500" y1="54333" x2="71500" y2="54333"/>
                        <a14:foregroundMark x1="74333" y1="56667" x2="74333" y2="56667"/>
                        <a14:foregroundMark x1="77000" y1="55667" x2="77000" y2="55667"/>
                        <a14:foregroundMark x1="72500" y1="55667" x2="72500" y2="55667"/>
                        <a14:foregroundMark x1="71167" y1="51000" x2="71167" y2="51000"/>
                        <a14:foregroundMark x1="78333" y1="45333" x2="78333" y2="45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30822" y="4915201"/>
            <a:ext cx="1948876" cy="194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5883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2CD192D-16D0-4908-89AA-E65F8156D195}">
  <we:reference id="wa104381411" version="2.4.5.0" store="en-IN" storeType="OMEX"/>
  <we:alternateReferences>
    <we:reference id="WA104381411" version="2.4.5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362</Words>
  <Application>Microsoft Office PowerPoint</Application>
  <PresentationFormat>Widescreen</PresentationFormat>
  <Paragraphs>89</Paragraphs>
  <Slides>6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Arial Rounded MT 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vishwakarma</dc:creator>
  <cp:lastModifiedBy>vishal vishwakarma</cp:lastModifiedBy>
  <cp:revision>2</cp:revision>
  <dcterms:created xsi:type="dcterms:W3CDTF">2025-12-21T08:54:04Z</dcterms:created>
  <dcterms:modified xsi:type="dcterms:W3CDTF">2025-12-21T15:01:36Z</dcterms:modified>
</cp:coreProperties>
</file>